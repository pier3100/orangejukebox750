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3" r:id="rId5"/>
    <p:sldId id="260" r:id="rId6"/>
    <p:sldId id="272" r:id="rId7"/>
    <p:sldId id="264" r:id="rId8"/>
    <p:sldId id="267" r:id="rId9"/>
    <p:sldId id="268" r:id="rId10"/>
    <p:sldId id="266" r:id="rId11"/>
    <p:sldId id="278" r:id="rId12"/>
    <p:sldId id="279" r:id="rId13"/>
    <p:sldId id="277" r:id="rId14"/>
    <p:sldId id="274" r:id="rId15"/>
    <p:sldId id="259" r:id="rId16"/>
    <p:sldId id="271" r:id="rId17"/>
    <p:sldId id="270" r:id="rId18"/>
    <p:sldId id="261" r:id="rId19"/>
    <p:sldId id="263" r:id="rId20"/>
    <p:sldId id="265" r:id="rId21"/>
    <p:sldId id="280" r:id="rId22"/>
    <p:sldId id="282" r:id="rId23"/>
    <p:sldId id="281" r:id="rId24"/>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61CFA-E057-B363-84F1-E564ED8A0D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90992046-9839-8841-52B0-0336AD9C4C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a:extLst>
              <a:ext uri="{FF2B5EF4-FFF2-40B4-BE49-F238E27FC236}">
                <a16:creationId xmlns:a16="http://schemas.microsoft.com/office/drawing/2014/main" id="{37B6C268-E62E-3C89-E72E-CDA88EBEBA54}"/>
              </a:ext>
            </a:extLst>
          </p:cNvPr>
          <p:cNvSpPr>
            <a:spLocks noGrp="1"/>
          </p:cNvSpPr>
          <p:nvPr>
            <p:ph type="dt" sz="half" idx="10"/>
          </p:nvPr>
        </p:nvSpPr>
        <p:spPr/>
        <p:txBody>
          <a:bodyPr/>
          <a:lstStyle/>
          <a:p>
            <a:fld id="{ED5DE5EC-1AC4-41B3-B7DB-51EE182802CA}" type="datetimeFigureOut">
              <a:rPr lang="nl-NL" smtClean="0"/>
              <a:t>23-2-2026</a:t>
            </a:fld>
            <a:endParaRPr lang="nl-NL"/>
          </a:p>
        </p:txBody>
      </p:sp>
      <p:sp>
        <p:nvSpPr>
          <p:cNvPr id="5" name="Footer Placeholder 4">
            <a:extLst>
              <a:ext uri="{FF2B5EF4-FFF2-40B4-BE49-F238E27FC236}">
                <a16:creationId xmlns:a16="http://schemas.microsoft.com/office/drawing/2014/main" id="{42B04488-2F66-3150-DF7E-8C8A098B13D7}"/>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CA23C9A0-2963-5380-A317-30F2599AACF4}"/>
              </a:ext>
            </a:extLst>
          </p:cNvPr>
          <p:cNvSpPr>
            <a:spLocks noGrp="1"/>
          </p:cNvSpPr>
          <p:nvPr>
            <p:ph type="sldNum" sz="quarter" idx="12"/>
          </p:nvPr>
        </p:nvSpPr>
        <p:spPr/>
        <p:txBody>
          <a:bodyPr/>
          <a:lstStyle/>
          <a:p>
            <a:fld id="{FFE5BC31-E181-4DD8-96F1-A351F417B849}" type="slidenum">
              <a:rPr lang="nl-NL" smtClean="0"/>
              <a:t>‹#›</a:t>
            </a:fld>
            <a:endParaRPr lang="nl-NL"/>
          </a:p>
        </p:txBody>
      </p:sp>
    </p:spTree>
    <p:extLst>
      <p:ext uri="{BB962C8B-B14F-4D97-AF65-F5344CB8AC3E}">
        <p14:creationId xmlns:p14="http://schemas.microsoft.com/office/powerpoint/2010/main" val="1703803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C1583-7176-A8CC-3AD9-4CFC2742EF39}"/>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7C142E30-7528-9073-FCEB-E2F396CD7C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21D0BD09-7B5D-8F83-EAB6-594ECB67CEBE}"/>
              </a:ext>
            </a:extLst>
          </p:cNvPr>
          <p:cNvSpPr>
            <a:spLocks noGrp="1"/>
          </p:cNvSpPr>
          <p:nvPr>
            <p:ph type="dt" sz="half" idx="10"/>
          </p:nvPr>
        </p:nvSpPr>
        <p:spPr/>
        <p:txBody>
          <a:bodyPr/>
          <a:lstStyle/>
          <a:p>
            <a:fld id="{ED5DE5EC-1AC4-41B3-B7DB-51EE182802CA}" type="datetimeFigureOut">
              <a:rPr lang="nl-NL" smtClean="0"/>
              <a:t>23-2-2026</a:t>
            </a:fld>
            <a:endParaRPr lang="nl-NL"/>
          </a:p>
        </p:txBody>
      </p:sp>
      <p:sp>
        <p:nvSpPr>
          <p:cNvPr id="5" name="Footer Placeholder 4">
            <a:extLst>
              <a:ext uri="{FF2B5EF4-FFF2-40B4-BE49-F238E27FC236}">
                <a16:creationId xmlns:a16="http://schemas.microsoft.com/office/drawing/2014/main" id="{0B200CF9-9FEC-6DEA-D8AF-1327680D8F8D}"/>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097C4AF7-19B9-6B00-E751-DB81CD49167F}"/>
              </a:ext>
            </a:extLst>
          </p:cNvPr>
          <p:cNvSpPr>
            <a:spLocks noGrp="1"/>
          </p:cNvSpPr>
          <p:nvPr>
            <p:ph type="sldNum" sz="quarter" idx="12"/>
          </p:nvPr>
        </p:nvSpPr>
        <p:spPr/>
        <p:txBody>
          <a:bodyPr/>
          <a:lstStyle/>
          <a:p>
            <a:fld id="{FFE5BC31-E181-4DD8-96F1-A351F417B849}" type="slidenum">
              <a:rPr lang="nl-NL" smtClean="0"/>
              <a:t>‹#›</a:t>
            </a:fld>
            <a:endParaRPr lang="nl-NL"/>
          </a:p>
        </p:txBody>
      </p:sp>
    </p:spTree>
    <p:extLst>
      <p:ext uri="{BB962C8B-B14F-4D97-AF65-F5344CB8AC3E}">
        <p14:creationId xmlns:p14="http://schemas.microsoft.com/office/powerpoint/2010/main" val="127059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0B2D7-C7DE-92BA-7E53-F4F7926707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DC3958F6-E830-FEBE-2A82-937187F106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700E34-7368-6459-4431-970A562D8E83}"/>
              </a:ext>
            </a:extLst>
          </p:cNvPr>
          <p:cNvSpPr>
            <a:spLocks noGrp="1"/>
          </p:cNvSpPr>
          <p:nvPr>
            <p:ph type="dt" sz="half" idx="10"/>
          </p:nvPr>
        </p:nvSpPr>
        <p:spPr/>
        <p:txBody>
          <a:bodyPr/>
          <a:lstStyle/>
          <a:p>
            <a:fld id="{ED5DE5EC-1AC4-41B3-B7DB-51EE182802CA}" type="datetimeFigureOut">
              <a:rPr lang="nl-NL" smtClean="0"/>
              <a:t>23-2-2026</a:t>
            </a:fld>
            <a:endParaRPr lang="nl-NL"/>
          </a:p>
        </p:txBody>
      </p:sp>
      <p:sp>
        <p:nvSpPr>
          <p:cNvPr id="5" name="Footer Placeholder 4">
            <a:extLst>
              <a:ext uri="{FF2B5EF4-FFF2-40B4-BE49-F238E27FC236}">
                <a16:creationId xmlns:a16="http://schemas.microsoft.com/office/drawing/2014/main" id="{26908DA6-C8B6-0839-A8D1-2FC64A21C66E}"/>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6015D08D-D814-AE6B-FCD1-341B120C198A}"/>
              </a:ext>
            </a:extLst>
          </p:cNvPr>
          <p:cNvSpPr>
            <a:spLocks noGrp="1"/>
          </p:cNvSpPr>
          <p:nvPr>
            <p:ph type="sldNum" sz="quarter" idx="12"/>
          </p:nvPr>
        </p:nvSpPr>
        <p:spPr/>
        <p:txBody>
          <a:bodyPr/>
          <a:lstStyle/>
          <a:p>
            <a:fld id="{FFE5BC31-E181-4DD8-96F1-A351F417B849}" type="slidenum">
              <a:rPr lang="nl-NL" smtClean="0"/>
              <a:t>‹#›</a:t>
            </a:fld>
            <a:endParaRPr lang="nl-NL"/>
          </a:p>
        </p:txBody>
      </p:sp>
    </p:spTree>
    <p:extLst>
      <p:ext uri="{BB962C8B-B14F-4D97-AF65-F5344CB8AC3E}">
        <p14:creationId xmlns:p14="http://schemas.microsoft.com/office/powerpoint/2010/main" val="387523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67821-E369-8B7D-7330-F96DDB566364}"/>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DDD8BE0D-8FA0-E4AE-E759-54C9E108B1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B9CE390F-C8AA-C547-8129-08CD88E053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a:extLst>
              <a:ext uri="{FF2B5EF4-FFF2-40B4-BE49-F238E27FC236}">
                <a16:creationId xmlns:a16="http://schemas.microsoft.com/office/drawing/2014/main" id="{D6D0C4A0-87D0-CA1A-0DB9-0546690C0E47}"/>
              </a:ext>
            </a:extLst>
          </p:cNvPr>
          <p:cNvSpPr>
            <a:spLocks noGrp="1"/>
          </p:cNvSpPr>
          <p:nvPr>
            <p:ph type="dt" sz="half" idx="10"/>
          </p:nvPr>
        </p:nvSpPr>
        <p:spPr/>
        <p:txBody>
          <a:bodyPr/>
          <a:lstStyle/>
          <a:p>
            <a:fld id="{ED5DE5EC-1AC4-41B3-B7DB-51EE182802CA}" type="datetimeFigureOut">
              <a:rPr lang="nl-NL" smtClean="0"/>
              <a:t>23-2-2026</a:t>
            </a:fld>
            <a:endParaRPr lang="nl-NL"/>
          </a:p>
        </p:txBody>
      </p:sp>
      <p:sp>
        <p:nvSpPr>
          <p:cNvPr id="6" name="Footer Placeholder 5">
            <a:extLst>
              <a:ext uri="{FF2B5EF4-FFF2-40B4-BE49-F238E27FC236}">
                <a16:creationId xmlns:a16="http://schemas.microsoft.com/office/drawing/2014/main" id="{5096C6EA-216D-1682-E079-981A20611101}"/>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028B4BDC-4D3C-2D76-57AB-031898391F41}"/>
              </a:ext>
            </a:extLst>
          </p:cNvPr>
          <p:cNvSpPr>
            <a:spLocks noGrp="1"/>
          </p:cNvSpPr>
          <p:nvPr>
            <p:ph type="sldNum" sz="quarter" idx="12"/>
          </p:nvPr>
        </p:nvSpPr>
        <p:spPr/>
        <p:txBody>
          <a:bodyPr/>
          <a:lstStyle/>
          <a:p>
            <a:fld id="{FFE5BC31-E181-4DD8-96F1-A351F417B849}" type="slidenum">
              <a:rPr lang="nl-NL" smtClean="0"/>
              <a:t>‹#›</a:t>
            </a:fld>
            <a:endParaRPr lang="nl-NL"/>
          </a:p>
        </p:txBody>
      </p:sp>
    </p:spTree>
    <p:extLst>
      <p:ext uri="{BB962C8B-B14F-4D97-AF65-F5344CB8AC3E}">
        <p14:creationId xmlns:p14="http://schemas.microsoft.com/office/powerpoint/2010/main" val="3060469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7E8F3-96CA-1427-256D-74F6585A707E}"/>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C8721AD7-77AC-6803-71A6-FBB4E38F75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800555-AF05-B9EE-8A4F-4ADF83E59F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C1F8A9B7-ACE7-9627-39BF-71A37EA055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477522-5BA4-916D-8475-26DF6358A2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a:extLst>
              <a:ext uri="{FF2B5EF4-FFF2-40B4-BE49-F238E27FC236}">
                <a16:creationId xmlns:a16="http://schemas.microsoft.com/office/drawing/2014/main" id="{572F460C-A63B-E48D-9E67-B54E1FEE48F3}"/>
              </a:ext>
            </a:extLst>
          </p:cNvPr>
          <p:cNvSpPr>
            <a:spLocks noGrp="1"/>
          </p:cNvSpPr>
          <p:nvPr>
            <p:ph type="dt" sz="half" idx="10"/>
          </p:nvPr>
        </p:nvSpPr>
        <p:spPr/>
        <p:txBody>
          <a:bodyPr/>
          <a:lstStyle/>
          <a:p>
            <a:fld id="{ED5DE5EC-1AC4-41B3-B7DB-51EE182802CA}" type="datetimeFigureOut">
              <a:rPr lang="nl-NL" smtClean="0"/>
              <a:t>23-2-2026</a:t>
            </a:fld>
            <a:endParaRPr lang="nl-NL"/>
          </a:p>
        </p:txBody>
      </p:sp>
      <p:sp>
        <p:nvSpPr>
          <p:cNvPr id="8" name="Footer Placeholder 7">
            <a:extLst>
              <a:ext uri="{FF2B5EF4-FFF2-40B4-BE49-F238E27FC236}">
                <a16:creationId xmlns:a16="http://schemas.microsoft.com/office/drawing/2014/main" id="{AE3380C3-2F7E-CF7C-1919-AB071BB955C8}"/>
              </a:ext>
            </a:extLst>
          </p:cNvPr>
          <p:cNvSpPr>
            <a:spLocks noGrp="1"/>
          </p:cNvSpPr>
          <p:nvPr>
            <p:ph type="ftr" sz="quarter" idx="11"/>
          </p:nvPr>
        </p:nvSpPr>
        <p:spPr/>
        <p:txBody>
          <a:bodyPr/>
          <a:lstStyle/>
          <a:p>
            <a:endParaRPr lang="nl-NL"/>
          </a:p>
        </p:txBody>
      </p:sp>
      <p:sp>
        <p:nvSpPr>
          <p:cNvPr id="9" name="Slide Number Placeholder 8">
            <a:extLst>
              <a:ext uri="{FF2B5EF4-FFF2-40B4-BE49-F238E27FC236}">
                <a16:creationId xmlns:a16="http://schemas.microsoft.com/office/drawing/2014/main" id="{47C31002-C9BD-D629-8A86-D7B7C3F82D3F}"/>
              </a:ext>
            </a:extLst>
          </p:cNvPr>
          <p:cNvSpPr>
            <a:spLocks noGrp="1"/>
          </p:cNvSpPr>
          <p:nvPr>
            <p:ph type="sldNum" sz="quarter" idx="12"/>
          </p:nvPr>
        </p:nvSpPr>
        <p:spPr/>
        <p:txBody>
          <a:bodyPr/>
          <a:lstStyle/>
          <a:p>
            <a:fld id="{FFE5BC31-E181-4DD8-96F1-A351F417B849}" type="slidenum">
              <a:rPr lang="nl-NL" smtClean="0"/>
              <a:t>‹#›</a:t>
            </a:fld>
            <a:endParaRPr lang="nl-NL"/>
          </a:p>
        </p:txBody>
      </p:sp>
    </p:spTree>
    <p:extLst>
      <p:ext uri="{BB962C8B-B14F-4D97-AF65-F5344CB8AC3E}">
        <p14:creationId xmlns:p14="http://schemas.microsoft.com/office/powerpoint/2010/main" val="3100861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34A9E-1D55-AF55-4CD6-10C81C175C41}"/>
              </a:ext>
            </a:extLst>
          </p:cNvPr>
          <p:cNvSpPr>
            <a:spLocks noGrp="1"/>
          </p:cNvSpPr>
          <p:nvPr>
            <p:ph type="title"/>
          </p:nvPr>
        </p:nvSpPr>
        <p:spPr/>
        <p:txBody>
          <a:bodyPr/>
          <a:lstStyle/>
          <a:p>
            <a:r>
              <a:rPr lang="en-US"/>
              <a:t>Click to edit Master title style</a:t>
            </a:r>
            <a:endParaRPr lang="nl-NL"/>
          </a:p>
        </p:txBody>
      </p:sp>
      <p:sp>
        <p:nvSpPr>
          <p:cNvPr id="3" name="Date Placeholder 2">
            <a:extLst>
              <a:ext uri="{FF2B5EF4-FFF2-40B4-BE49-F238E27FC236}">
                <a16:creationId xmlns:a16="http://schemas.microsoft.com/office/drawing/2014/main" id="{0374EB43-E624-5759-E151-DE2C397DD8D1}"/>
              </a:ext>
            </a:extLst>
          </p:cNvPr>
          <p:cNvSpPr>
            <a:spLocks noGrp="1"/>
          </p:cNvSpPr>
          <p:nvPr>
            <p:ph type="dt" sz="half" idx="10"/>
          </p:nvPr>
        </p:nvSpPr>
        <p:spPr/>
        <p:txBody>
          <a:bodyPr/>
          <a:lstStyle/>
          <a:p>
            <a:fld id="{ED5DE5EC-1AC4-41B3-B7DB-51EE182802CA}" type="datetimeFigureOut">
              <a:rPr lang="nl-NL" smtClean="0"/>
              <a:t>23-2-2026</a:t>
            </a:fld>
            <a:endParaRPr lang="nl-NL"/>
          </a:p>
        </p:txBody>
      </p:sp>
      <p:sp>
        <p:nvSpPr>
          <p:cNvPr id="4" name="Footer Placeholder 3">
            <a:extLst>
              <a:ext uri="{FF2B5EF4-FFF2-40B4-BE49-F238E27FC236}">
                <a16:creationId xmlns:a16="http://schemas.microsoft.com/office/drawing/2014/main" id="{25C9C77F-6E45-7630-6E9F-D8EDE31DB199}"/>
              </a:ext>
            </a:extLst>
          </p:cNvPr>
          <p:cNvSpPr>
            <a:spLocks noGrp="1"/>
          </p:cNvSpPr>
          <p:nvPr>
            <p:ph type="ftr" sz="quarter" idx="11"/>
          </p:nvPr>
        </p:nvSpPr>
        <p:spPr/>
        <p:txBody>
          <a:bodyPr/>
          <a:lstStyle/>
          <a:p>
            <a:endParaRPr lang="nl-NL"/>
          </a:p>
        </p:txBody>
      </p:sp>
      <p:sp>
        <p:nvSpPr>
          <p:cNvPr id="5" name="Slide Number Placeholder 4">
            <a:extLst>
              <a:ext uri="{FF2B5EF4-FFF2-40B4-BE49-F238E27FC236}">
                <a16:creationId xmlns:a16="http://schemas.microsoft.com/office/drawing/2014/main" id="{5108A918-4FE2-EF63-8EF2-141235BA1EBE}"/>
              </a:ext>
            </a:extLst>
          </p:cNvPr>
          <p:cNvSpPr>
            <a:spLocks noGrp="1"/>
          </p:cNvSpPr>
          <p:nvPr>
            <p:ph type="sldNum" sz="quarter" idx="12"/>
          </p:nvPr>
        </p:nvSpPr>
        <p:spPr/>
        <p:txBody>
          <a:bodyPr/>
          <a:lstStyle/>
          <a:p>
            <a:fld id="{FFE5BC31-E181-4DD8-96F1-A351F417B849}" type="slidenum">
              <a:rPr lang="nl-NL" smtClean="0"/>
              <a:t>‹#›</a:t>
            </a:fld>
            <a:endParaRPr lang="nl-NL"/>
          </a:p>
        </p:txBody>
      </p:sp>
    </p:spTree>
    <p:extLst>
      <p:ext uri="{BB962C8B-B14F-4D97-AF65-F5344CB8AC3E}">
        <p14:creationId xmlns:p14="http://schemas.microsoft.com/office/powerpoint/2010/main" val="90528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8E4412-2E0E-F8A4-7DDF-E68222002F80}"/>
              </a:ext>
            </a:extLst>
          </p:cNvPr>
          <p:cNvSpPr>
            <a:spLocks noGrp="1"/>
          </p:cNvSpPr>
          <p:nvPr>
            <p:ph type="dt" sz="half" idx="10"/>
          </p:nvPr>
        </p:nvSpPr>
        <p:spPr/>
        <p:txBody>
          <a:bodyPr/>
          <a:lstStyle/>
          <a:p>
            <a:fld id="{ED5DE5EC-1AC4-41B3-B7DB-51EE182802CA}" type="datetimeFigureOut">
              <a:rPr lang="nl-NL" smtClean="0"/>
              <a:t>23-2-2026</a:t>
            </a:fld>
            <a:endParaRPr lang="nl-NL"/>
          </a:p>
        </p:txBody>
      </p:sp>
      <p:sp>
        <p:nvSpPr>
          <p:cNvPr id="3" name="Footer Placeholder 2">
            <a:extLst>
              <a:ext uri="{FF2B5EF4-FFF2-40B4-BE49-F238E27FC236}">
                <a16:creationId xmlns:a16="http://schemas.microsoft.com/office/drawing/2014/main" id="{E302035A-1FA6-20DA-8429-6DB2C38BAA2B}"/>
              </a:ext>
            </a:extLst>
          </p:cNvPr>
          <p:cNvSpPr>
            <a:spLocks noGrp="1"/>
          </p:cNvSpPr>
          <p:nvPr>
            <p:ph type="ftr" sz="quarter" idx="11"/>
          </p:nvPr>
        </p:nvSpPr>
        <p:spPr/>
        <p:txBody>
          <a:bodyPr/>
          <a:lstStyle/>
          <a:p>
            <a:endParaRPr lang="nl-NL"/>
          </a:p>
        </p:txBody>
      </p:sp>
      <p:sp>
        <p:nvSpPr>
          <p:cNvPr id="4" name="Slide Number Placeholder 3">
            <a:extLst>
              <a:ext uri="{FF2B5EF4-FFF2-40B4-BE49-F238E27FC236}">
                <a16:creationId xmlns:a16="http://schemas.microsoft.com/office/drawing/2014/main" id="{3490B8B7-B934-9BC0-CB92-272366FE1515}"/>
              </a:ext>
            </a:extLst>
          </p:cNvPr>
          <p:cNvSpPr>
            <a:spLocks noGrp="1"/>
          </p:cNvSpPr>
          <p:nvPr>
            <p:ph type="sldNum" sz="quarter" idx="12"/>
          </p:nvPr>
        </p:nvSpPr>
        <p:spPr/>
        <p:txBody>
          <a:bodyPr/>
          <a:lstStyle/>
          <a:p>
            <a:fld id="{FFE5BC31-E181-4DD8-96F1-A351F417B849}" type="slidenum">
              <a:rPr lang="nl-NL" smtClean="0"/>
              <a:t>‹#›</a:t>
            </a:fld>
            <a:endParaRPr lang="nl-NL"/>
          </a:p>
        </p:txBody>
      </p:sp>
    </p:spTree>
    <p:extLst>
      <p:ext uri="{BB962C8B-B14F-4D97-AF65-F5344CB8AC3E}">
        <p14:creationId xmlns:p14="http://schemas.microsoft.com/office/powerpoint/2010/main" val="578079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6D3E2-273D-821A-29EF-7E04382EA5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1183B458-313B-83D7-04BC-1C5E905BC8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69865144-6C92-17B2-1874-88AC583C28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16D1B7-192F-CA54-2D84-80C20DD12338}"/>
              </a:ext>
            </a:extLst>
          </p:cNvPr>
          <p:cNvSpPr>
            <a:spLocks noGrp="1"/>
          </p:cNvSpPr>
          <p:nvPr>
            <p:ph type="dt" sz="half" idx="10"/>
          </p:nvPr>
        </p:nvSpPr>
        <p:spPr/>
        <p:txBody>
          <a:bodyPr/>
          <a:lstStyle/>
          <a:p>
            <a:fld id="{ED5DE5EC-1AC4-41B3-B7DB-51EE182802CA}" type="datetimeFigureOut">
              <a:rPr lang="nl-NL" smtClean="0"/>
              <a:t>23-2-2026</a:t>
            </a:fld>
            <a:endParaRPr lang="nl-NL"/>
          </a:p>
        </p:txBody>
      </p:sp>
      <p:sp>
        <p:nvSpPr>
          <p:cNvPr id="6" name="Footer Placeholder 5">
            <a:extLst>
              <a:ext uri="{FF2B5EF4-FFF2-40B4-BE49-F238E27FC236}">
                <a16:creationId xmlns:a16="http://schemas.microsoft.com/office/drawing/2014/main" id="{AF4F0E24-EA77-52F4-7DB7-71043B2B9CC5}"/>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1ADE5FD5-613D-0167-BD23-51DD20F4AF67}"/>
              </a:ext>
            </a:extLst>
          </p:cNvPr>
          <p:cNvSpPr>
            <a:spLocks noGrp="1"/>
          </p:cNvSpPr>
          <p:nvPr>
            <p:ph type="sldNum" sz="quarter" idx="12"/>
          </p:nvPr>
        </p:nvSpPr>
        <p:spPr/>
        <p:txBody>
          <a:bodyPr/>
          <a:lstStyle/>
          <a:p>
            <a:fld id="{FFE5BC31-E181-4DD8-96F1-A351F417B849}" type="slidenum">
              <a:rPr lang="nl-NL" smtClean="0"/>
              <a:t>‹#›</a:t>
            </a:fld>
            <a:endParaRPr lang="nl-NL"/>
          </a:p>
        </p:txBody>
      </p:sp>
    </p:spTree>
    <p:extLst>
      <p:ext uri="{BB962C8B-B14F-4D97-AF65-F5344CB8AC3E}">
        <p14:creationId xmlns:p14="http://schemas.microsoft.com/office/powerpoint/2010/main" val="2258640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2DE74-B2C9-D020-E865-C15D7E5739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487AD5EB-F3CB-4DDA-1C9F-0C7F622D91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D0261F62-F794-716C-716B-880A576C08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C4B94C-819A-5B2C-8E03-FDC94E199591}"/>
              </a:ext>
            </a:extLst>
          </p:cNvPr>
          <p:cNvSpPr>
            <a:spLocks noGrp="1"/>
          </p:cNvSpPr>
          <p:nvPr>
            <p:ph type="dt" sz="half" idx="10"/>
          </p:nvPr>
        </p:nvSpPr>
        <p:spPr/>
        <p:txBody>
          <a:bodyPr/>
          <a:lstStyle/>
          <a:p>
            <a:fld id="{ED5DE5EC-1AC4-41B3-B7DB-51EE182802CA}" type="datetimeFigureOut">
              <a:rPr lang="nl-NL" smtClean="0"/>
              <a:t>23-2-2026</a:t>
            </a:fld>
            <a:endParaRPr lang="nl-NL"/>
          </a:p>
        </p:txBody>
      </p:sp>
      <p:sp>
        <p:nvSpPr>
          <p:cNvPr id="6" name="Footer Placeholder 5">
            <a:extLst>
              <a:ext uri="{FF2B5EF4-FFF2-40B4-BE49-F238E27FC236}">
                <a16:creationId xmlns:a16="http://schemas.microsoft.com/office/drawing/2014/main" id="{3D95FB72-E8DC-CF73-9085-DC40AD3DA1F5}"/>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490CF030-CF6B-69C3-B238-23996C9C8CB2}"/>
              </a:ext>
            </a:extLst>
          </p:cNvPr>
          <p:cNvSpPr>
            <a:spLocks noGrp="1"/>
          </p:cNvSpPr>
          <p:nvPr>
            <p:ph type="sldNum" sz="quarter" idx="12"/>
          </p:nvPr>
        </p:nvSpPr>
        <p:spPr/>
        <p:txBody>
          <a:bodyPr/>
          <a:lstStyle/>
          <a:p>
            <a:fld id="{FFE5BC31-E181-4DD8-96F1-A351F417B849}" type="slidenum">
              <a:rPr lang="nl-NL" smtClean="0"/>
              <a:t>‹#›</a:t>
            </a:fld>
            <a:endParaRPr lang="nl-NL"/>
          </a:p>
        </p:txBody>
      </p:sp>
    </p:spTree>
    <p:extLst>
      <p:ext uri="{BB962C8B-B14F-4D97-AF65-F5344CB8AC3E}">
        <p14:creationId xmlns:p14="http://schemas.microsoft.com/office/powerpoint/2010/main" val="820889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1B35B-733F-BDCB-0FD4-C601F3B311A4}"/>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0D9038B4-42DE-2D2D-10E8-D41751653D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B8BC9859-0C91-CC32-5C78-63EEFE9DBB54}"/>
              </a:ext>
            </a:extLst>
          </p:cNvPr>
          <p:cNvSpPr>
            <a:spLocks noGrp="1"/>
          </p:cNvSpPr>
          <p:nvPr>
            <p:ph type="dt" sz="half" idx="10"/>
          </p:nvPr>
        </p:nvSpPr>
        <p:spPr/>
        <p:txBody>
          <a:bodyPr/>
          <a:lstStyle/>
          <a:p>
            <a:fld id="{ED5DE5EC-1AC4-41B3-B7DB-51EE182802CA}" type="datetimeFigureOut">
              <a:rPr lang="nl-NL" smtClean="0"/>
              <a:t>23-2-2026</a:t>
            </a:fld>
            <a:endParaRPr lang="nl-NL"/>
          </a:p>
        </p:txBody>
      </p:sp>
      <p:sp>
        <p:nvSpPr>
          <p:cNvPr id="5" name="Footer Placeholder 4">
            <a:extLst>
              <a:ext uri="{FF2B5EF4-FFF2-40B4-BE49-F238E27FC236}">
                <a16:creationId xmlns:a16="http://schemas.microsoft.com/office/drawing/2014/main" id="{8B49E934-21CE-EA09-BAF6-3196738AE18B}"/>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D4FF109E-8016-6FA7-377D-78DD870A8944}"/>
              </a:ext>
            </a:extLst>
          </p:cNvPr>
          <p:cNvSpPr>
            <a:spLocks noGrp="1"/>
          </p:cNvSpPr>
          <p:nvPr>
            <p:ph type="sldNum" sz="quarter" idx="12"/>
          </p:nvPr>
        </p:nvSpPr>
        <p:spPr/>
        <p:txBody>
          <a:bodyPr/>
          <a:lstStyle/>
          <a:p>
            <a:fld id="{FFE5BC31-E181-4DD8-96F1-A351F417B849}" type="slidenum">
              <a:rPr lang="nl-NL" smtClean="0"/>
              <a:t>‹#›</a:t>
            </a:fld>
            <a:endParaRPr lang="nl-NL"/>
          </a:p>
        </p:txBody>
      </p:sp>
    </p:spTree>
    <p:extLst>
      <p:ext uri="{BB962C8B-B14F-4D97-AF65-F5344CB8AC3E}">
        <p14:creationId xmlns:p14="http://schemas.microsoft.com/office/powerpoint/2010/main" val="1651188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001B6C-9105-C4F4-FF4A-8CDB938B6E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08E596BE-1CD6-4101-01B2-6C37D5AB55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86ED4BA7-6268-402E-77C2-E91C677D46D5}"/>
              </a:ext>
            </a:extLst>
          </p:cNvPr>
          <p:cNvSpPr>
            <a:spLocks noGrp="1"/>
          </p:cNvSpPr>
          <p:nvPr>
            <p:ph type="dt" sz="half" idx="10"/>
          </p:nvPr>
        </p:nvSpPr>
        <p:spPr/>
        <p:txBody>
          <a:bodyPr/>
          <a:lstStyle/>
          <a:p>
            <a:fld id="{ED5DE5EC-1AC4-41B3-B7DB-51EE182802CA}" type="datetimeFigureOut">
              <a:rPr lang="nl-NL" smtClean="0"/>
              <a:t>23-2-2026</a:t>
            </a:fld>
            <a:endParaRPr lang="nl-NL"/>
          </a:p>
        </p:txBody>
      </p:sp>
      <p:sp>
        <p:nvSpPr>
          <p:cNvPr id="5" name="Footer Placeholder 4">
            <a:extLst>
              <a:ext uri="{FF2B5EF4-FFF2-40B4-BE49-F238E27FC236}">
                <a16:creationId xmlns:a16="http://schemas.microsoft.com/office/drawing/2014/main" id="{3FB3809E-A1C7-94C5-A0B1-1D24D917841F}"/>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D2C6326A-2423-ACA4-C62E-CA98BD809C45}"/>
              </a:ext>
            </a:extLst>
          </p:cNvPr>
          <p:cNvSpPr>
            <a:spLocks noGrp="1"/>
          </p:cNvSpPr>
          <p:nvPr>
            <p:ph type="sldNum" sz="quarter" idx="12"/>
          </p:nvPr>
        </p:nvSpPr>
        <p:spPr/>
        <p:txBody>
          <a:bodyPr/>
          <a:lstStyle/>
          <a:p>
            <a:fld id="{FFE5BC31-E181-4DD8-96F1-A351F417B849}" type="slidenum">
              <a:rPr lang="nl-NL" smtClean="0"/>
              <a:t>‹#›</a:t>
            </a:fld>
            <a:endParaRPr lang="nl-NL"/>
          </a:p>
        </p:txBody>
      </p:sp>
    </p:spTree>
    <p:extLst>
      <p:ext uri="{BB962C8B-B14F-4D97-AF65-F5344CB8AC3E}">
        <p14:creationId xmlns:p14="http://schemas.microsoft.com/office/powerpoint/2010/main" val="3909754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7C92F2-5882-C081-FBEF-82F32C265C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F1928DBD-C677-284F-B536-761D054D42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027FE1BB-1300-FF8F-4481-759CD3A2AA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5DE5EC-1AC4-41B3-B7DB-51EE182802CA}" type="datetimeFigureOut">
              <a:rPr lang="nl-NL" smtClean="0"/>
              <a:t>23-2-2026</a:t>
            </a:fld>
            <a:endParaRPr lang="nl-NL"/>
          </a:p>
        </p:txBody>
      </p:sp>
      <p:sp>
        <p:nvSpPr>
          <p:cNvPr id="5" name="Footer Placeholder 4">
            <a:extLst>
              <a:ext uri="{FF2B5EF4-FFF2-40B4-BE49-F238E27FC236}">
                <a16:creationId xmlns:a16="http://schemas.microsoft.com/office/drawing/2014/main" id="{024A867A-48C8-835D-05A0-688FE2AC44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Slide Number Placeholder 5">
            <a:extLst>
              <a:ext uri="{FF2B5EF4-FFF2-40B4-BE49-F238E27FC236}">
                <a16:creationId xmlns:a16="http://schemas.microsoft.com/office/drawing/2014/main" id="{29D3EF7F-4622-26C8-82CF-8F9D77220D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E5BC31-E181-4DD8-96F1-A351F417B849}" type="slidenum">
              <a:rPr lang="nl-NL" smtClean="0"/>
              <a:t>‹#›</a:t>
            </a:fld>
            <a:endParaRPr lang="nl-NL"/>
          </a:p>
        </p:txBody>
      </p:sp>
    </p:spTree>
    <p:extLst>
      <p:ext uri="{BB962C8B-B14F-4D97-AF65-F5344CB8AC3E}">
        <p14:creationId xmlns:p14="http://schemas.microsoft.com/office/powerpoint/2010/main" val="590127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4C415-E1B8-2AD6-1068-30D47EB2EFDA}"/>
              </a:ext>
            </a:extLst>
          </p:cNvPr>
          <p:cNvSpPr>
            <a:spLocks noGrp="1"/>
          </p:cNvSpPr>
          <p:nvPr>
            <p:ph type="ctrTitle"/>
          </p:nvPr>
        </p:nvSpPr>
        <p:spPr/>
        <p:txBody>
          <a:bodyPr/>
          <a:lstStyle/>
          <a:p>
            <a:r>
              <a:rPr lang="en-US" noProof="0" dirty="0"/>
              <a:t>Music organization</a:t>
            </a:r>
          </a:p>
        </p:txBody>
      </p:sp>
      <p:sp>
        <p:nvSpPr>
          <p:cNvPr id="3" name="Subtitle 2">
            <a:extLst>
              <a:ext uri="{FF2B5EF4-FFF2-40B4-BE49-F238E27FC236}">
                <a16:creationId xmlns:a16="http://schemas.microsoft.com/office/drawing/2014/main" id="{4533FC7C-1A10-47D5-F17A-30A2CCAA9257}"/>
              </a:ext>
            </a:extLst>
          </p:cNvPr>
          <p:cNvSpPr>
            <a:spLocks noGrp="1"/>
          </p:cNvSpPr>
          <p:nvPr>
            <p:ph type="subTitle" idx="1"/>
          </p:nvPr>
        </p:nvSpPr>
        <p:spPr/>
        <p:txBody>
          <a:bodyPr/>
          <a:lstStyle/>
          <a:p>
            <a:r>
              <a:rPr lang="en-US" noProof="0" dirty="0"/>
              <a:t>16/02/2026</a:t>
            </a:r>
          </a:p>
        </p:txBody>
      </p:sp>
    </p:spTree>
    <p:extLst>
      <p:ext uri="{BB962C8B-B14F-4D97-AF65-F5344CB8AC3E}">
        <p14:creationId xmlns:p14="http://schemas.microsoft.com/office/powerpoint/2010/main" val="3250671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9FA0D-227F-E282-7BC4-B5AF873B2D22}"/>
              </a:ext>
            </a:extLst>
          </p:cNvPr>
          <p:cNvSpPr>
            <a:spLocks noGrp="1"/>
          </p:cNvSpPr>
          <p:nvPr>
            <p:ph type="title"/>
          </p:nvPr>
        </p:nvSpPr>
        <p:spPr/>
        <p:txBody>
          <a:bodyPr/>
          <a:lstStyle/>
          <a:p>
            <a:r>
              <a:rPr lang="en-US" noProof="0" dirty="0"/>
              <a:t>We organize music in 2 ways</a:t>
            </a:r>
          </a:p>
        </p:txBody>
      </p:sp>
      <p:sp>
        <p:nvSpPr>
          <p:cNvPr id="3" name="Content Placeholder 2">
            <a:extLst>
              <a:ext uri="{FF2B5EF4-FFF2-40B4-BE49-F238E27FC236}">
                <a16:creationId xmlns:a16="http://schemas.microsoft.com/office/drawing/2014/main" id="{C4278931-8D8D-F118-99EF-654C8158FDC5}"/>
              </a:ext>
            </a:extLst>
          </p:cNvPr>
          <p:cNvSpPr>
            <a:spLocks noGrp="1"/>
          </p:cNvSpPr>
          <p:nvPr>
            <p:ph idx="1"/>
          </p:nvPr>
        </p:nvSpPr>
        <p:spPr/>
        <p:txBody>
          <a:bodyPr>
            <a:normAutofit fontScale="77500" lnSpcReduction="20000"/>
          </a:bodyPr>
          <a:lstStyle/>
          <a:p>
            <a:r>
              <a:rPr lang="en-US" noProof="0" dirty="0"/>
              <a:t>Tags</a:t>
            </a:r>
          </a:p>
          <a:p>
            <a:pPr lvl="1"/>
            <a:r>
              <a:rPr lang="en-US" noProof="0" dirty="0"/>
              <a:t>“structural grammar”</a:t>
            </a:r>
          </a:p>
          <a:p>
            <a:pPr lvl="1"/>
            <a:r>
              <a:rPr lang="en-US" noProof="0" dirty="0"/>
              <a:t>Limited</a:t>
            </a:r>
          </a:p>
          <a:p>
            <a:pPr lvl="1"/>
            <a:r>
              <a:rPr lang="en-US" noProof="0" dirty="0"/>
              <a:t>It should be an objective, stable (over time) system. </a:t>
            </a:r>
          </a:p>
          <a:p>
            <a:pPr lvl="1"/>
            <a:r>
              <a:rPr lang="en-US" noProof="0" dirty="0"/>
              <a:t>It should help in filtering songs during a DJ performance. So it should capture some relevant mixing or dancefloor or experience aspect. It should correspond to a clear decision lever.	</a:t>
            </a:r>
          </a:p>
          <a:p>
            <a:pPr lvl="1"/>
            <a:r>
              <a:rPr lang="en-US" noProof="0" dirty="0"/>
              <a:t>Each track get only one tag label per tag category. This results in a coordinate system.</a:t>
            </a:r>
          </a:p>
          <a:p>
            <a:pPr lvl="1"/>
            <a:r>
              <a:rPr lang="en-US" noProof="0" dirty="0"/>
              <a:t>Only a limited amount of tag categories, i.e. 3</a:t>
            </a:r>
          </a:p>
          <a:p>
            <a:pPr lvl="1"/>
            <a:r>
              <a:rPr lang="en-US" noProof="0" dirty="0"/>
              <a:t>For each tag category, there should be only maximal 10 tag labels</a:t>
            </a:r>
          </a:p>
          <a:p>
            <a:r>
              <a:rPr lang="en-US" noProof="0" dirty="0"/>
              <a:t>Playlists</a:t>
            </a:r>
          </a:p>
          <a:p>
            <a:pPr lvl="1"/>
            <a:r>
              <a:rPr lang="en-US" noProof="0" dirty="0"/>
              <a:t>“poetic chaos”</a:t>
            </a:r>
          </a:p>
          <a:p>
            <a:pPr lvl="1"/>
            <a:r>
              <a:rPr lang="en-US" noProof="0" dirty="0"/>
              <a:t>Unlimited</a:t>
            </a:r>
          </a:p>
          <a:p>
            <a:pPr lvl="1"/>
            <a:r>
              <a:rPr lang="en-US" noProof="0" dirty="0"/>
              <a:t>Creative, subjective, personal, temporal, contextual</a:t>
            </a:r>
          </a:p>
          <a:p>
            <a:pPr lvl="1"/>
            <a:r>
              <a:rPr lang="en-US" noProof="0" dirty="0"/>
              <a:t>May grow into a zoo</a:t>
            </a:r>
          </a:p>
          <a:p>
            <a:pPr lvl="1"/>
            <a:r>
              <a:rPr lang="en-US" noProof="0" dirty="0"/>
              <a:t>Songs can be in many different playlists</a:t>
            </a:r>
          </a:p>
        </p:txBody>
      </p:sp>
    </p:spTree>
    <p:extLst>
      <p:ext uri="{BB962C8B-B14F-4D97-AF65-F5344CB8AC3E}">
        <p14:creationId xmlns:p14="http://schemas.microsoft.com/office/powerpoint/2010/main" val="1370429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C4DF7-3722-23AF-FFE9-5D079057684C}"/>
              </a:ext>
            </a:extLst>
          </p:cNvPr>
          <p:cNvSpPr>
            <a:spLocks noGrp="1"/>
          </p:cNvSpPr>
          <p:nvPr>
            <p:ph type="title"/>
          </p:nvPr>
        </p:nvSpPr>
        <p:spPr/>
        <p:txBody>
          <a:bodyPr/>
          <a:lstStyle/>
          <a:p>
            <a:r>
              <a:rPr lang="en-US" noProof="0" dirty="0"/>
              <a:t>Philosophy</a:t>
            </a:r>
          </a:p>
        </p:txBody>
      </p:sp>
      <p:sp>
        <p:nvSpPr>
          <p:cNvPr id="3" name="Content Placeholder 2">
            <a:extLst>
              <a:ext uri="{FF2B5EF4-FFF2-40B4-BE49-F238E27FC236}">
                <a16:creationId xmlns:a16="http://schemas.microsoft.com/office/drawing/2014/main" id="{E9B6BE08-328C-1C0E-5AFA-F52C66097D8E}"/>
              </a:ext>
            </a:extLst>
          </p:cNvPr>
          <p:cNvSpPr>
            <a:spLocks noGrp="1"/>
          </p:cNvSpPr>
          <p:nvPr>
            <p:ph idx="1"/>
          </p:nvPr>
        </p:nvSpPr>
        <p:spPr/>
        <p:txBody>
          <a:bodyPr>
            <a:normAutofit fontScale="92500"/>
          </a:bodyPr>
          <a:lstStyle/>
          <a:p>
            <a:pPr marL="0" indent="0">
              <a:buNone/>
            </a:pPr>
            <a:r>
              <a:rPr lang="en-US" noProof="0" dirty="0"/>
              <a:t>This system avoids genre rigidity. Focuses on experience. Allows chaos at the surface. Keeps structure underneath. That mirrors how you think about society too, interestingly. (what are you getting at </a:t>
            </a:r>
            <a:r>
              <a:rPr lang="en-US" noProof="0" dirty="0" err="1"/>
              <a:t>chatGPT</a:t>
            </a:r>
            <a:r>
              <a:rPr lang="en-US" noProof="0" dirty="0"/>
              <a:t>??) Limited structural principles + rich expressive freedom.</a:t>
            </a:r>
          </a:p>
          <a:p>
            <a:pPr marL="0" indent="0">
              <a:buNone/>
            </a:pPr>
            <a:endParaRPr lang="en-US" dirty="0"/>
          </a:p>
          <a:p>
            <a:pPr marL="0" indent="0">
              <a:buNone/>
            </a:pPr>
            <a:r>
              <a:rPr lang="en-US" dirty="0"/>
              <a:t>The tags are not meant to be a perfect description of the song. </a:t>
            </a:r>
          </a:p>
          <a:p>
            <a:pPr marL="0" indent="0">
              <a:buNone/>
            </a:pPr>
            <a:endParaRPr lang="en-US" noProof="0" dirty="0"/>
          </a:p>
          <a:p>
            <a:pPr marL="0" indent="0">
              <a:buNone/>
            </a:pPr>
            <a:r>
              <a:rPr lang="en-US" noProof="0" dirty="0"/>
              <a:t>Tag tracks manually, and not by meta data. This allows me to get to know my tracks. Get to now whether the tagging system works. And prevents me from relying on information which is probably incorrect.</a:t>
            </a:r>
          </a:p>
        </p:txBody>
      </p:sp>
    </p:spTree>
    <p:extLst>
      <p:ext uri="{BB962C8B-B14F-4D97-AF65-F5344CB8AC3E}">
        <p14:creationId xmlns:p14="http://schemas.microsoft.com/office/powerpoint/2010/main" val="4122338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CFEFD-D1F8-ADD3-3D0F-04C9E363FA93}"/>
              </a:ext>
            </a:extLst>
          </p:cNvPr>
          <p:cNvSpPr>
            <a:spLocks noGrp="1"/>
          </p:cNvSpPr>
          <p:nvPr>
            <p:ph type="title"/>
          </p:nvPr>
        </p:nvSpPr>
        <p:spPr/>
        <p:txBody>
          <a:bodyPr/>
          <a:lstStyle/>
          <a:p>
            <a:r>
              <a:rPr lang="nl-NL" dirty="0" err="1"/>
              <a:t>Tagging</a:t>
            </a:r>
            <a:r>
              <a:rPr lang="nl-NL" dirty="0"/>
              <a:t> </a:t>
            </a:r>
            <a:r>
              <a:rPr lang="nl-NL" dirty="0" err="1"/>
              <a:t>guidelines</a:t>
            </a:r>
            <a:endParaRPr lang="nl-NL" dirty="0"/>
          </a:p>
        </p:txBody>
      </p:sp>
      <p:sp>
        <p:nvSpPr>
          <p:cNvPr id="3" name="Content Placeholder 2">
            <a:extLst>
              <a:ext uri="{FF2B5EF4-FFF2-40B4-BE49-F238E27FC236}">
                <a16:creationId xmlns:a16="http://schemas.microsoft.com/office/drawing/2014/main" id="{223EEE11-2A0A-F560-C78A-2A5BE6D32A1C}"/>
              </a:ext>
            </a:extLst>
          </p:cNvPr>
          <p:cNvSpPr>
            <a:spLocks noGrp="1"/>
          </p:cNvSpPr>
          <p:nvPr>
            <p:ph idx="1"/>
          </p:nvPr>
        </p:nvSpPr>
        <p:spPr/>
        <p:txBody>
          <a:bodyPr/>
          <a:lstStyle/>
          <a:p>
            <a:r>
              <a:rPr lang="en-US" dirty="0"/>
              <a:t>Tags are mainly with respect to the central part of the song. Ignore separate intros and outros.</a:t>
            </a:r>
          </a:p>
          <a:p>
            <a:r>
              <a:rPr lang="en-US" dirty="0"/>
              <a:t>Be honest. If a very slow and easy track takes you in an unexpected way its still irregular.</a:t>
            </a:r>
          </a:p>
          <a:p>
            <a:endParaRPr lang="nl-NL" dirty="0"/>
          </a:p>
        </p:txBody>
      </p:sp>
    </p:spTree>
    <p:extLst>
      <p:ext uri="{BB962C8B-B14F-4D97-AF65-F5344CB8AC3E}">
        <p14:creationId xmlns:p14="http://schemas.microsoft.com/office/powerpoint/2010/main" val="3348609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3B210-BB98-0EE6-8C66-1600A78964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B0484-AC7B-31D6-4031-0F03E0174169}"/>
              </a:ext>
            </a:extLst>
          </p:cNvPr>
          <p:cNvSpPr>
            <a:spLocks noGrp="1"/>
          </p:cNvSpPr>
          <p:nvPr>
            <p:ph type="title"/>
          </p:nvPr>
        </p:nvSpPr>
        <p:spPr/>
        <p:txBody>
          <a:bodyPr/>
          <a:lstStyle/>
          <a:p>
            <a:r>
              <a:rPr lang="en-US" noProof="0" dirty="0"/>
              <a:t>Tags</a:t>
            </a:r>
          </a:p>
        </p:txBody>
      </p:sp>
      <p:sp>
        <p:nvSpPr>
          <p:cNvPr id="3" name="Content Placeholder 2">
            <a:extLst>
              <a:ext uri="{FF2B5EF4-FFF2-40B4-BE49-F238E27FC236}">
                <a16:creationId xmlns:a16="http://schemas.microsoft.com/office/drawing/2014/main" id="{AE7BB9BC-B41C-A606-6754-4DA081E8C0E9}"/>
              </a:ext>
            </a:extLst>
          </p:cNvPr>
          <p:cNvSpPr>
            <a:spLocks noGrp="1"/>
          </p:cNvSpPr>
          <p:nvPr>
            <p:ph idx="1"/>
          </p:nvPr>
        </p:nvSpPr>
        <p:spPr/>
        <p:txBody>
          <a:bodyPr>
            <a:normAutofit fontScale="85000" lnSpcReduction="20000"/>
          </a:bodyPr>
          <a:lstStyle/>
          <a:p>
            <a:pPr marL="0" indent="0">
              <a:buNone/>
            </a:pPr>
            <a:r>
              <a:rPr lang="en-US" noProof="0" dirty="0"/>
              <a:t>Physical drive	</a:t>
            </a:r>
          </a:p>
          <a:p>
            <a:pPr marL="457200" lvl="1" indent="0">
              <a:buNone/>
            </a:pPr>
            <a:r>
              <a:rPr lang="en-US" i="1" noProof="0" dirty="0"/>
              <a:t>“This tag measures the intensity of physical movement the track is likely to induce on a dancefloor, independent of genre, emotion, or tempo.”</a:t>
            </a:r>
          </a:p>
          <a:p>
            <a:pPr marL="0" indent="0">
              <a:buNone/>
            </a:pPr>
            <a:r>
              <a:rPr lang="en-US" noProof="0" dirty="0"/>
              <a:t>Direction	</a:t>
            </a:r>
          </a:p>
          <a:p>
            <a:pPr marL="457200" lvl="1" indent="0">
              <a:buNone/>
            </a:pPr>
            <a:r>
              <a:rPr lang="nl-NL" i="1" dirty="0"/>
              <a:t>“How is </a:t>
            </a:r>
            <a:r>
              <a:rPr lang="nl-NL" i="1" dirty="0" err="1"/>
              <a:t>the</a:t>
            </a:r>
            <a:r>
              <a:rPr lang="nl-NL" i="1" dirty="0"/>
              <a:t> song </a:t>
            </a:r>
            <a:r>
              <a:rPr lang="nl-NL" i="1" dirty="0" err="1"/>
              <a:t>developing</a:t>
            </a:r>
            <a:r>
              <a:rPr lang="nl-NL" i="1" dirty="0"/>
              <a:t> </a:t>
            </a:r>
            <a:r>
              <a:rPr lang="nl-NL" i="1" dirty="0" err="1"/>
              <a:t>temporarily</a:t>
            </a:r>
            <a:r>
              <a:rPr lang="nl-NL" i="1" dirty="0"/>
              <a:t>”</a:t>
            </a:r>
          </a:p>
          <a:p>
            <a:pPr marL="0" indent="0">
              <a:buNone/>
            </a:pPr>
            <a:r>
              <a:rPr lang="en-US" noProof="0" dirty="0"/>
              <a:t>Authority	</a:t>
            </a:r>
          </a:p>
          <a:p>
            <a:pPr marL="457200" lvl="1" indent="0">
              <a:buNone/>
            </a:pPr>
            <a:r>
              <a:rPr lang="en-US" i="1" dirty="0"/>
              <a:t>“How much attention does this song demand”</a:t>
            </a:r>
            <a:endParaRPr lang="en-US" i="1" noProof="0" dirty="0"/>
          </a:p>
          <a:p>
            <a:pPr marL="0" indent="0">
              <a:buNone/>
            </a:pPr>
            <a:r>
              <a:rPr lang="en-US" noProof="0" dirty="0"/>
              <a:t>Cleanliness		</a:t>
            </a:r>
          </a:p>
          <a:p>
            <a:pPr marL="457200" lvl="1" indent="0">
              <a:buNone/>
            </a:pPr>
            <a:r>
              <a:rPr lang="en-US" i="1" dirty="0"/>
              <a:t>“How clean is the mix, in terms of separability of instruments”</a:t>
            </a:r>
          </a:p>
          <a:p>
            <a:pPr marL="0" indent="0">
              <a:buNone/>
            </a:pPr>
            <a:r>
              <a:rPr lang="en-US" dirty="0"/>
              <a:t>Fullness</a:t>
            </a:r>
          </a:p>
          <a:p>
            <a:pPr marL="457200" lvl="1" indent="0">
              <a:buNone/>
            </a:pPr>
            <a:r>
              <a:rPr lang="en-US" i="1" dirty="0"/>
              <a:t>“How full is the mix”</a:t>
            </a:r>
            <a:endParaRPr lang="en-US" sz="2600" dirty="0"/>
          </a:p>
          <a:p>
            <a:pPr marL="0" indent="0">
              <a:buNone/>
            </a:pPr>
            <a:r>
              <a:rPr lang="en-US" noProof="0" dirty="0"/>
              <a:t>Warning</a:t>
            </a:r>
          </a:p>
          <a:p>
            <a:pPr marL="457200" lvl="1" indent="0">
              <a:buNone/>
            </a:pPr>
            <a:r>
              <a:rPr lang="en-US" dirty="0"/>
              <a:t>“Watch out with mixing this track”</a:t>
            </a:r>
            <a:endParaRPr lang="en-US" noProof="0" dirty="0"/>
          </a:p>
          <a:p>
            <a:pPr marL="0" indent="0">
              <a:buNone/>
            </a:pPr>
            <a:endParaRPr lang="en-US" noProof="0" dirty="0"/>
          </a:p>
          <a:p>
            <a:endParaRPr lang="en-US" noProof="0" dirty="0"/>
          </a:p>
          <a:p>
            <a:pPr lvl="1"/>
            <a:endParaRPr lang="en-US" noProof="0" dirty="0"/>
          </a:p>
          <a:p>
            <a:pPr lvl="1"/>
            <a:endParaRPr lang="en-US" noProof="0" dirty="0"/>
          </a:p>
        </p:txBody>
      </p:sp>
    </p:spTree>
    <p:extLst>
      <p:ext uri="{BB962C8B-B14F-4D97-AF65-F5344CB8AC3E}">
        <p14:creationId xmlns:p14="http://schemas.microsoft.com/office/powerpoint/2010/main" val="763718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95F6B-8C76-A98C-C6BE-E7B42DC9375C}"/>
              </a:ext>
            </a:extLst>
          </p:cNvPr>
          <p:cNvSpPr>
            <a:spLocks noGrp="1"/>
          </p:cNvSpPr>
          <p:nvPr>
            <p:ph type="title"/>
          </p:nvPr>
        </p:nvSpPr>
        <p:spPr/>
        <p:txBody>
          <a:bodyPr/>
          <a:lstStyle/>
          <a:p>
            <a:r>
              <a:rPr lang="nl-NL" dirty="0"/>
              <a:t>Tags</a:t>
            </a:r>
          </a:p>
        </p:txBody>
      </p:sp>
      <p:sp>
        <p:nvSpPr>
          <p:cNvPr id="3" name="Content Placeholder 2">
            <a:extLst>
              <a:ext uri="{FF2B5EF4-FFF2-40B4-BE49-F238E27FC236}">
                <a16:creationId xmlns:a16="http://schemas.microsoft.com/office/drawing/2014/main" id="{679507F8-E7DD-5A5C-124E-1213B8C84EB7}"/>
              </a:ext>
            </a:extLst>
          </p:cNvPr>
          <p:cNvSpPr>
            <a:spLocks noGrp="1"/>
          </p:cNvSpPr>
          <p:nvPr>
            <p:ph sz="half" idx="1"/>
          </p:nvPr>
        </p:nvSpPr>
        <p:spPr/>
        <p:txBody>
          <a:bodyPr>
            <a:normAutofit fontScale="62500" lnSpcReduction="20000"/>
          </a:bodyPr>
          <a:lstStyle/>
          <a:p>
            <a:pPr marL="0" indent="0">
              <a:buNone/>
            </a:pPr>
            <a:r>
              <a:rPr lang="nl-NL" dirty="0" err="1"/>
              <a:t>Physical</a:t>
            </a:r>
            <a:r>
              <a:rPr lang="nl-NL" dirty="0"/>
              <a:t> drive</a:t>
            </a:r>
          </a:p>
          <a:p>
            <a:r>
              <a:rPr lang="nl-NL" sz="2400" dirty="0" err="1"/>
              <a:t>Listening</a:t>
            </a:r>
            <a:endParaRPr lang="nl-NL" sz="2400" dirty="0"/>
          </a:p>
          <a:p>
            <a:r>
              <a:rPr lang="nl-NL" sz="2400" dirty="0" err="1"/>
              <a:t>Nodding</a:t>
            </a:r>
            <a:endParaRPr lang="nl-NL" sz="2400" dirty="0"/>
          </a:p>
          <a:p>
            <a:r>
              <a:rPr lang="nl-NL" sz="2400" dirty="0" err="1"/>
              <a:t>Swaying</a:t>
            </a:r>
            <a:endParaRPr lang="nl-NL" sz="2400" dirty="0"/>
          </a:p>
          <a:p>
            <a:r>
              <a:rPr lang="nl-NL" sz="2400" dirty="0" err="1"/>
              <a:t>Grooving</a:t>
            </a:r>
            <a:endParaRPr lang="nl-NL" sz="2400" dirty="0"/>
          </a:p>
          <a:p>
            <a:r>
              <a:rPr lang="nl-NL" sz="2400" dirty="0" err="1"/>
              <a:t>Loosing</a:t>
            </a:r>
            <a:r>
              <a:rPr lang="nl-NL" sz="2400" dirty="0"/>
              <a:t> </a:t>
            </a:r>
            <a:r>
              <a:rPr lang="nl-NL" sz="2400" dirty="0" err="1"/>
              <a:t>it</a:t>
            </a:r>
            <a:endParaRPr lang="nl-NL" sz="2400" dirty="0"/>
          </a:p>
          <a:p>
            <a:endParaRPr lang="nl-NL" dirty="0"/>
          </a:p>
          <a:p>
            <a:pPr marL="0" indent="0">
              <a:buNone/>
            </a:pPr>
            <a:r>
              <a:rPr lang="nl-NL" dirty="0" err="1"/>
              <a:t>Fullness</a:t>
            </a:r>
            <a:endParaRPr lang="nl-NL" dirty="0"/>
          </a:p>
          <a:p>
            <a:r>
              <a:rPr lang="nl-NL" sz="2400" dirty="0"/>
              <a:t>A </a:t>
            </a:r>
            <a:r>
              <a:rPr lang="nl-NL" sz="2400" dirty="0" err="1"/>
              <a:t>tad</a:t>
            </a:r>
            <a:r>
              <a:rPr lang="nl-NL" sz="2400" dirty="0"/>
              <a:t> empty</a:t>
            </a:r>
          </a:p>
          <a:p>
            <a:r>
              <a:rPr lang="nl-NL" sz="2400" dirty="0" err="1"/>
              <a:t>Spacious</a:t>
            </a:r>
            <a:endParaRPr lang="nl-NL" sz="2400" dirty="0"/>
          </a:p>
          <a:p>
            <a:r>
              <a:rPr lang="nl-NL" sz="2400" dirty="0" err="1"/>
              <a:t>Cozy</a:t>
            </a:r>
            <a:endParaRPr lang="nl-NL" sz="2400" dirty="0"/>
          </a:p>
          <a:p>
            <a:r>
              <a:rPr lang="nl-NL" sz="2400" dirty="0"/>
              <a:t>Full</a:t>
            </a:r>
          </a:p>
          <a:p>
            <a:pPr marL="0" indent="0">
              <a:buNone/>
            </a:pPr>
            <a:endParaRPr lang="nl-NL" sz="2400" dirty="0"/>
          </a:p>
          <a:p>
            <a:pPr marL="0" indent="0">
              <a:buNone/>
            </a:pPr>
            <a:r>
              <a:rPr lang="nl-NL" sz="2900" dirty="0" err="1"/>
              <a:t>Warning</a:t>
            </a:r>
            <a:endParaRPr lang="nl-NL" sz="2900" dirty="0"/>
          </a:p>
        </p:txBody>
      </p:sp>
      <p:sp>
        <p:nvSpPr>
          <p:cNvPr id="4" name="Content Placeholder 3">
            <a:extLst>
              <a:ext uri="{FF2B5EF4-FFF2-40B4-BE49-F238E27FC236}">
                <a16:creationId xmlns:a16="http://schemas.microsoft.com/office/drawing/2014/main" id="{C968658E-E0D0-8451-69F3-3F997CCB1D57}"/>
              </a:ext>
            </a:extLst>
          </p:cNvPr>
          <p:cNvSpPr>
            <a:spLocks noGrp="1"/>
          </p:cNvSpPr>
          <p:nvPr>
            <p:ph sz="half" idx="2"/>
          </p:nvPr>
        </p:nvSpPr>
        <p:spPr>
          <a:xfrm>
            <a:off x="6172200" y="1825625"/>
            <a:ext cx="5181600" cy="4772602"/>
          </a:xfrm>
        </p:spPr>
        <p:txBody>
          <a:bodyPr>
            <a:normAutofit fontScale="62500" lnSpcReduction="20000"/>
          </a:bodyPr>
          <a:lstStyle/>
          <a:p>
            <a:pPr marL="0" indent="0">
              <a:buNone/>
            </a:pPr>
            <a:r>
              <a:rPr lang="nl-NL" dirty="0" err="1"/>
              <a:t>Direction</a:t>
            </a:r>
            <a:endParaRPr lang="nl-NL" dirty="0"/>
          </a:p>
          <a:p>
            <a:r>
              <a:rPr lang="nl-NL" sz="2400" dirty="0" err="1"/>
              <a:t>Stable</a:t>
            </a:r>
            <a:endParaRPr lang="nl-NL" sz="2400" dirty="0"/>
          </a:p>
          <a:p>
            <a:r>
              <a:rPr lang="nl-NL" sz="2400" dirty="0"/>
              <a:t>Hill</a:t>
            </a:r>
          </a:p>
          <a:p>
            <a:r>
              <a:rPr lang="nl-NL" sz="2400" dirty="0"/>
              <a:t>Waves </a:t>
            </a:r>
            <a:r>
              <a:rPr lang="nl-NL" sz="2400" dirty="0" err="1"/>
              <a:t>and</a:t>
            </a:r>
            <a:r>
              <a:rPr lang="nl-NL" sz="2400" dirty="0"/>
              <a:t> </a:t>
            </a:r>
            <a:r>
              <a:rPr lang="nl-NL" sz="2400" dirty="0" err="1"/>
              <a:t>peaks</a:t>
            </a:r>
            <a:endParaRPr lang="nl-NL" sz="2400" dirty="0"/>
          </a:p>
          <a:p>
            <a:r>
              <a:rPr lang="nl-NL" sz="2400" dirty="0" err="1"/>
              <a:t>Irregular</a:t>
            </a:r>
            <a:endParaRPr lang="nl-NL" sz="2400" dirty="0"/>
          </a:p>
          <a:p>
            <a:endParaRPr lang="nl-NL" dirty="0"/>
          </a:p>
          <a:p>
            <a:pPr marL="0" indent="0">
              <a:buNone/>
            </a:pPr>
            <a:r>
              <a:rPr lang="nl-NL" dirty="0" err="1"/>
              <a:t>Cleanliness</a:t>
            </a:r>
            <a:endParaRPr lang="nl-NL" dirty="0"/>
          </a:p>
          <a:p>
            <a:r>
              <a:rPr lang="nl-NL" sz="2400" dirty="0" err="1"/>
              <a:t>Sludge</a:t>
            </a:r>
            <a:endParaRPr lang="nl-NL" sz="2400" dirty="0"/>
          </a:p>
          <a:p>
            <a:r>
              <a:rPr lang="nl-NL" sz="2400" dirty="0" err="1"/>
              <a:t>Integrated</a:t>
            </a:r>
            <a:endParaRPr lang="nl-NL" sz="2400" dirty="0"/>
          </a:p>
          <a:p>
            <a:r>
              <a:rPr lang="nl-NL" sz="2400" dirty="0"/>
              <a:t>Clean</a:t>
            </a:r>
          </a:p>
          <a:p>
            <a:endParaRPr lang="nl-NL" sz="2400" dirty="0"/>
          </a:p>
          <a:p>
            <a:pPr marL="0" indent="0">
              <a:buNone/>
            </a:pPr>
            <a:r>
              <a:rPr lang="nl-NL" sz="2900" dirty="0" err="1"/>
              <a:t>Authority</a:t>
            </a:r>
            <a:endParaRPr lang="nl-NL" sz="2900" dirty="0"/>
          </a:p>
          <a:p>
            <a:r>
              <a:rPr lang="nl-NL" sz="2400" dirty="0" err="1"/>
              <a:t>Lush</a:t>
            </a:r>
            <a:endParaRPr lang="nl-NL" sz="2400" dirty="0"/>
          </a:p>
          <a:p>
            <a:r>
              <a:rPr lang="nl-NL" sz="2400" dirty="0" err="1"/>
              <a:t>Slight</a:t>
            </a:r>
            <a:r>
              <a:rPr lang="nl-NL" sz="2400" dirty="0"/>
              <a:t> </a:t>
            </a:r>
            <a:r>
              <a:rPr lang="nl-NL" sz="2400" dirty="0" err="1"/>
              <a:t>pressure</a:t>
            </a:r>
            <a:endParaRPr lang="nl-NL" sz="2400" dirty="0"/>
          </a:p>
          <a:p>
            <a:r>
              <a:rPr lang="nl-NL" sz="2400" dirty="0" err="1"/>
              <a:t>Demanding</a:t>
            </a:r>
            <a:endParaRPr lang="nl-NL" sz="2400" dirty="0"/>
          </a:p>
        </p:txBody>
      </p:sp>
    </p:spTree>
    <p:extLst>
      <p:ext uri="{BB962C8B-B14F-4D97-AF65-F5344CB8AC3E}">
        <p14:creationId xmlns:p14="http://schemas.microsoft.com/office/powerpoint/2010/main" val="1931276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2FA42-6F73-7C76-A04F-E723AD64E0E8}"/>
              </a:ext>
            </a:extLst>
          </p:cNvPr>
          <p:cNvSpPr>
            <a:spLocks noGrp="1"/>
          </p:cNvSpPr>
          <p:nvPr>
            <p:ph type="title"/>
          </p:nvPr>
        </p:nvSpPr>
        <p:spPr/>
        <p:txBody>
          <a:bodyPr/>
          <a:lstStyle/>
          <a:p>
            <a:r>
              <a:rPr lang="en-US" noProof="0" dirty="0"/>
              <a:t>Physical drive</a:t>
            </a:r>
          </a:p>
        </p:txBody>
      </p:sp>
      <p:sp>
        <p:nvSpPr>
          <p:cNvPr id="3" name="Content Placeholder 2">
            <a:extLst>
              <a:ext uri="{FF2B5EF4-FFF2-40B4-BE49-F238E27FC236}">
                <a16:creationId xmlns:a16="http://schemas.microsoft.com/office/drawing/2014/main" id="{11802EF0-5DA6-7806-EA2B-7F69124BC3B9}"/>
              </a:ext>
            </a:extLst>
          </p:cNvPr>
          <p:cNvSpPr>
            <a:spLocks noGrp="1"/>
          </p:cNvSpPr>
          <p:nvPr>
            <p:ph idx="1"/>
          </p:nvPr>
        </p:nvSpPr>
        <p:spPr/>
        <p:txBody>
          <a:bodyPr>
            <a:normAutofit fontScale="92500" lnSpcReduction="20000"/>
          </a:bodyPr>
          <a:lstStyle/>
          <a:p>
            <a:r>
              <a:rPr lang="en-US" noProof="0" dirty="0"/>
              <a:t>Definition</a:t>
            </a:r>
          </a:p>
          <a:p>
            <a:pPr lvl="1"/>
            <a:r>
              <a:rPr lang="en-US" noProof="0" dirty="0"/>
              <a:t>“It’s about how much it wants to make you move your body.” </a:t>
            </a:r>
          </a:p>
          <a:p>
            <a:pPr lvl="1"/>
            <a:r>
              <a:rPr lang="en-US" noProof="0" dirty="0"/>
              <a:t>“How strongly this track compels physical movement on a dancefloor.”</a:t>
            </a:r>
          </a:p>
          <a:p>
            <a:pPr lvl="1"/>
            <a:r>
              <a:rPr lang="en-US" noProof="0" dirty="0"/>
              <a:t>“This tag measures the intensity of physical movement the track is likely to induce on a dancefloor, independent of genre, emotion, or tempo.”</a:t>
            </a:r>
          </a:p>
          <a:p>
            <a:pPr lvl="1"/>
            <a:r>
              <a:rPr lang="en-US" noProof="0" dirty="0"/>
              <a:t>Mainly about the second quartile, because that is where you mix</a:t>
            </a:r>
          </a:p>
          <a:p>
            <a:r>
              <a:rPr lang="en-US" noProof="0" dirty="0"/>
              <a:t>Labels</a:t>
            </a:r>
          </a:p>
          <a:p>
            <a:pPr marL="914400" lvl="1" indent="-457200">
              <a:buFont typeface="+mj-lt"/>
              <a:buAutoNum type="arabicPeriod"/>
            </a:pPr>
            <a:r>
              <a:rPr lang="en-US" noProof="0" dirty="0"/>
              <a:t>Listening</a:t>
            </a:r>
          </a:p>
          <a:p>
            <a:pPr marL="914400" lvl="1" indent="-457200">
              <a:buFont typeface="+mj-lt"/>
              <a:buAutoNum type="arabicPeriod"/>
            </a:pPr>
            <a:r>
              <a:rPr lang="en-US" noProof="0" dirty="0"/>
              <a:t>Nodding: head nodding, doing some movements but not feeling inclined to continue</a:t>
            </a:r>
          </a:p>
          <a:p>
            <a:pPr marL="914400" lvl="1" indent="-457200">
              <a:buFont typeface="+mj-lt"/>
              <a:buAutoNum type="arabicPeriod"/>
            </a:pPr>
            <a:r>
              <a:rPr lang="en-US" noProof="0" dirty="0"/>
              <a:t>Swaying: some people are dancing, others are talking, part of your body wants to move, does not necessarily need to be a swaying movement</a:t>
            </a:r>
          </a:p>
          <a:p>
            <a:pPr marL="914400" lvl="1" indent="-457200">
              <a:buFont typeface="+mj-lt"/>
              <a:buAutoNum type="arabicPeriod"/>
            </a:pPr>
            <a:r>
              <a:rPr lang="en-US" noProof="0" dirty="0"/>
              <a:t>Grooving: comfortable dancing, lock-in,</a:t>
            </a:r>
            <a:r>
              <a:rPr lang="en-US" dirty="0"/>
              <a:t> might be lush, might be urged</a:t>
            </a:r>
          </a:p>
          <a:p>
            <a:pPr marL="914400" lvl="1" indent="-457200">
              <a:buFont typeface="+mj-lt"/>
              <a:buAutoNum type="arabicPeriod"/>
            </a:pPr>
            <a:r>
              <a:rPr lang="en-US" noProof="0" dirty="0"/>
              <a:t>Losing it: going all out, ecstatic, might be more about energy than rhythm</a:t>
            </a:r>
          </a:p>
          <a:p>
            <a:endParaRPr lang="en-US" noProof="0" dirty="0"/>
          </a:p>
          <a:p>
            <a:pPr marL="457200" lvl="1" indent="0">
              <a:buNone/>
            </a:pPr>
            <a:endParaRPr lang="en-US" noProof="0" dirty="0"/>
          </a:p>
        </p:txBody>
      </p:sp>
    </p:spTree>
    <p:extLst>
      <p:ext uri="{BB962C8B-B14F-4D97-AF65-F5344CB8AC3E}">
        <p14:creationId xmlns:p14="http://schemas.microsoft.com/office/powerpoint/2010/main" val="3549159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90443-7A02-2CE5-7183-ECBE89415AFE}"/>
              </a:ext>
            </a:extLst>
          </p:cNvPr>
          <p:cNvSpPr>
            <a:spLocks noGrp="1"/>
          </p:cNvSpPr>
          <p:nvPr>
            <p:ph type="title"/>
          </p:nvPr>
        </p:nvSpPr>
        <p:spPr/>
        <p:txBody>
          <a:bodyPr/>
          <a:lstStyle/>
          <a:p>
            <a:r>
              <a:rPr lang="nl-NL" dirty="0" err="1"/>
              <a:t>Direction</a:t>
            </a:r>
            <a:endParaRPr lang="nl-NL" dirty="0"/>
          </a:p>
        </p:txBody>
      </p:sp>
      <p:sp>
        <p:nvSpPr>
          <p:cNvPr id="3" name="Content Placeholder 2">
            <a:extLst>
              <a:ext uri="{FF2B5EF4-FFF2-40B4-BE49-F238E27FC236}">
                <a16:creationId xmlns:a16="http://schemas.microsoft.com/office/drawing/2014/main" id="{66B5A891-2066-5E64-82F8-9BCC702D9885}"/>
              </a:ext>
            </a:extLst>
          </p:cNvPr>
          <p:cNvSpPr>
            <a:spLocks noGrp="1"/>
          </p:cNvSpPr>
          <p:nvPr>
            <p:ph idx="1"/>
          </p:nvPr>
        </p:nvSpPr>
        <p:spPr>
          <a:xfrm>
            <a:off x="838199" y="1825625"/>
            <a:ext cx="10789227" cy="4351338"/>
          </a:xfrm>
        </p:spPr>
        <p:txBody>
          <a:bodyPr>
            <a:normAutofit fontScale="85000" lnSpcReduction="10000"/>
          </a:bodyPr>
          <a:lstStyle/>
          <a:p>
            <a:r>
              <a:rPr lang="nl-NL" dirty="0"/>
              <a:t>Definition</a:t>
            </a:r>
          </a:p>
          <a:p>
            <a:pPr lvl="1"/>
            <a:r>
              <a:rPr lang="nl-NL" dirty="0"/>
              <a:t>“</a:t>
            </a:r>
            <a:r>
              <a:rPr lang="nl-NL" dirty="0" err="1"/>
              <a:t>how</a:t>
            </a:r>
            <a:r>
              <a:rPr lang="nl-NL" dirty="0"/>
              <a:t> is </a:t>
            </a:r>
            <a:r>
              <a:rPr lang="nl-NL" dirty="0" err="1"/>
              <a:t>the</a:t>
            </a:r>
            <a:r>
              <a:rPr lang="nl-NL" dirty="0"/>
              <a:t> song </a:t>
            </a:r>
            <a:r>
              <a:rPr lang="nl-NL" dirty="0" err="1"/>
              <a:t>developing</a:t>
            </a:r>
            <a:r>
              <a:rPr lang="nl-NL" dirty="0"/>
              <a:t> </a:t>
            </a:r>
            <a:r>
              <a:rPr lang="nl-NL" dirty="0" err="1"/>
              <a:t>temporarily</a:t>
            </a:r>
            <a:r>
              <a:rPr lang="nl-NL" dirty="0"/>
              <a:t> in </a:t>
            </a:r>
            <a:r>
              <a:rPr lang="nl-NL" dirty="0" err="1"/>
              <a:t>terms</a:t>
            </a:r>
            <a:r>
              <a:rPr lang="nl-NL" dirty="0"/>
              <a:t> of energy, </a:t>
            </a:r>
            <a:r>
              <a:rPr lang="nl-NL" dirty="0" err="1"/>
              <a:t>tension</a:t>
            </a:r>
            <a:r>
              <a:rPr lang="nl-NL" dirty="0"/>
              <a:t>, release”</a:t>
            </a:r>
          </a:p>
          <a:p>
            <a:pPr lvl="1"/>
            <a:r>
              <a:rPr lang="nl-NL" dirty="0" err="1"/>
              <a:t>Clear</a:t>
            </a:r>
            <a:r>
              <a:rPr lang="nl-NL" dirty="0"/>
              <a:t> intro </a:t>
            </a:r>
            <a:r>
              <a:rPr lang="nl-NL" dirty="0" err="1"/>
              <a:t>and</a:t>
            </a:r>
            <a:r>
              <a:rPr lang="nl-NL" dirty="0"/>
              <a:t> </a:t>
            </a:r>
            <a:r>
              <a:rPr lang="nl-NL" dirty="0" err="1"/>
              <a:t>outros</a:t>
            </a:r>
            <a:r>
              <a:rPr lang="nl-NL" dirty="0"/>
              <a:t> </a:t>
            </a:r>
            <a:r>
              <a:rPr lang="nl-NL" dirty="0" err="1"/>
              <a:t>should</a:t>
            </a:r>
            <a:r>
              <a:rPr lang="nl-NL" dirty="0"/>
              <a:t> </a:t>
            </a:r>
            <a:r>
              <a:rPr lang="nl-NL" dirty="0" err="1"/>
              <a:t>be</a:t>
            </a:r>
            <a:r>
              <a:rPr lang="nl-NL" dirty="0"/>
              <a:t> </a:t>
            </a:r>
            <a:r>
              <a:rPr lang="nl-NL" dirty="0" err="1"/>
              <a:t>ignored</a:t>
            </a:r>
            <a:r>
              <a:rPr lang="nl-NL" dirty="0"/>
              <a:t> </a:t>
            </a:r>
            <a:r>
              <a:rPr lang="nl-NL" dirty="0" err="1"/>
              <a:t>when</a:t>
            </a:r>
            <a:r>
              <a:rPr lang="nl-NL" dirty="0"/>
              <a:t> </a:t>
            </a:r>
            <a:r>
              <a:rPr lang="nl-NL" dirty="0" err="1"/>
              <a:t>determining</a:t>
            </a:r>
            <a:r>
              <a:rPr lang="nl-NL" dirty="0"/>
              <a:t> </a:t>
            </a:r>
            <a:r>
              <a:rPr lang="nl-NL" dirty="0" err="1"/>
              <a:t>direction</a:t>
            </a:r>
            <a:endParaRPr lang="nl-NL" dirty="0"/>
          </a:p>
          <a:p>
            <a:pPr lvl="1"/>
            <a:r>
              <a:rPr lang="nl-NL" dirty="0" err="1"/>
              <a:t>Who</a:t>
            </a:r>
            <a:r>
              <a:rPr lang="nl-NL" dirty="0"/>
              <a:t> is in control of </a:t>
            </a:r>
            <a:r>
              <a:rPr lang="nl-NL" dirty="0" err="1"/>
              <a:t>tension</a:t>
            </a:r>
            <a:r>
              <a:rPr lang="nl-NL" dirty="0"/>
              <a:t>-release? The DJ or </a:t>
            </a:r>
            <a:r>
              <a:rPr lang="nl-NL" dirty="0" err="1"/>
              <a:t>the</a:t>
            </a:r>
            <a:r>
              <a:rPr lang="nl-NL" dirty="0"/>
              <a:t> track producer? </a:t>
            </a:r>
            <a:r>
              <a:rPr lang="nl-NL" dirty="0" err="1"/>
              <a:t>Ask</a:t>
            </a:r>
            <a:r>
              <a:rPr lang="nl-NL" dirty="0"/>
              <a:t> </a:t>
            </a:r>
            <a:r>
              <a:rPr lang="nl-NL" dirty="0" err="1"/>
              <a:t>yourself</a:t>
            </a:r>
            <a:r>
              <a:rPr lang="nl-NL" dirty="0"/>
              <a:t> </a:t>
            </a:r>
            <a:r>
              <a:rPr lang="nl-NL" dirty="0" err="1"/>
              <a:t>if</a:t>
            </a:r>
            <a:r>
              <a:rPr lang="nl-NL" dirty="0"/>
              <a:t> </a:t>
            </a:r>
            <a:r>
              <a:rPr lang="nl-NL" dirty="0" err="1"/>
              <a:t>it</a:t>
            </a:r>
            <a:r>
              <a:rPr lang="nl-NL" dirty="0"/>
              <a:t> matter a lot at </a:t>
            </a:r>
            <a:r>
              <a:rPr lang="nl-NL" dirty="0" err="1"/>
              <a:t>which</a:t>
            </a:r>
            <a:r>
              <a:rPr lang="nl-NL" dirty="0"/>
              <a:t> moment </a:t>
            </a:r>
            <a:r>
              <a:rPr lang="nl-NL" dirty="0" err="1"/>
              <a:t>you</a:t>
            </a:r>
            <a:r>
              <a:rPr lang="nl-NL" dirty="0"/>
              <a:t> mix in </a:t>
            </a:r>
            <a:r>
              <a:rPr lang="nl-NL" dirty="0" err="1"/>
              <a:t>the</a:t>
            </a:r>
            <a:r>
              <a:rPr lang="nl-NL" dirty="0"/>
              <a:t> track.</a:t>
            </a:r>
          </a:p>
          <a:p>
            <a:r>
              <a:rPr lang="nl-NL" dirty="0"/>
              <a:t>Labels</a:t>
            </a:r>
          </a:p>
          <a:p>
            <a:pPr lvl="1"/>
            <a:r>
              <a:rPr lang="en-US" noProof="0" dirty="0"/>
              <a:t>Stable: mainly old records for people with a long attention span, the DJ is in control of tension-release, can be easily used for long blends, the point of mixing doesn’t matter too much </a:t>
            </a:r>
            <a:r>
              <a:rPr lang="en-US" dirty="0"/>
              <a:t>as most points are similar, the composition is about setting a vibe/groove</a:t>
            </a:r>
            <a:endParaRPr lang="en-US" noProof="0" dirty="0"/>
          </a:p>
          <a:p>
            <a:pPr lvl="1"/>
            <a:r>
              <a:rPr lang="en-US" dirty="0"/>
              <a:t>Hill: increasing and then decreasing in intensity</a:t>
            </a:r>
            <a:endParaRPr lang="en-US" noProof="0" dirty="0"/>
          </a:p>
          <a:p>
            <a:pPr lvl="1"/>
            <a:r>
              <a:rPr lang="en-US" noProof="0" dirty="0"/>
              <a:t>Waves and peaks: multiple ups and downs in intensity, more than just taking away an instrument for a while</a:t>
            </a:r>
            <a:r>
              <a:rPr lang="en-US" dirty="0"/>
              <a:t>, the track is in control of tension-release, timing of mix is important</a:t>
            </a:r>
            <a:endParaRPr lang="en-US" noProof="0" dirty="0"/>
          </a:p>
          <a:p>
            <a:pPr lvl="1"/>
            <a:r>
              <a:rPr lang="en-US" noProof="0" dirty="0"/>
              <a:t>Unpredictable: turbulent, adventure</a:t>
            </a:r>
            <a:r>
              <a:rPr lang="en-US" dirty="0"/>
              <a:t>,</a:t>
            </a:r>
            <a:r>
              <a:rPr lang="en-US" noProof="0" dirty="0"/>
              <a:t> chaos, rollercoaster going into different directions, not really knowing where it will go next, does not necessarily need to be intense</a:t>
            </a:r>
          </a:p>
          <a:p>
            <a:pPr lvl="1"/>
            <a:endParaRPr lang="en-US" noProof="0" dirty="0"/>
          </a:p>
          <a:p>
            <a:pPr marL="0" indent="0">
              <a:buNone/>
            </a:pPr>
            <a:endParaRPr lang="nl-NL" dirty="0"/>
          </a:p>
          <a:p>
            <a:pPr marL="0" indent="0">
              <a:buNone/>
            </a:pPr>
            <a:endParaRPr lang="nl-NL" dirty="0"/>
          </a:p>
        </p:txBody>
      </p:sp>
    </p:spTree>
    <p:extLst>
      <p:ext uri="{BB962C8B-B14F-4D97-AF65-F5344CB8AC3E}">
        <p14:creationId xmlns:p14="http://schemas.microsoft.com/office/powerpoint/2010/main" val="1334096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F603A-93C2-60BD-2FFC-E13E0B77E8AF}"/>
              </a:ext>
            </a:extLst>
          </p:cNvPr>
          <p:cNvSpPr>
            <a:spLocks noGrp="1"/>
          </p:cNvSpPr>
          <p:nvPr>
            <p:ph type="title"/>
          </p:nvPr>
        </p:nvSpPr>
        <p:spPr/>
        <p:txBody>
          <a:bodyPr/>
          <a:lstStyle/>
          <a:p>
            <a:r>
              <a:rPr lang="nl-NL" dirty="0" err="1"/>
              <a:t>Authority</a:t>
            </a:r>
            <a:endParaRPr lang="nl-NL" dirty="0"/>
          </a:p>
        </p:txBody>
      </p:sp>
      <p:sp>
        <p:nvSpPr>
          <p:cNvPr id="3" name="Content Placeholder 2">
            <a:extLst>
              <a:ext uri="{FF2B5EF4-FFF2-40B4-BE49-F238E27FC236}">
                <a16:creationId xmlns:a16="http://schemas.microsoft.com/office/drawing/2014/main" id="{4EA48C9A-D55B-EBC3-29DB-BD3CE62541D4}"/>
              </a:ext>
            </a:extLst>
          </p:cNvPr>
          <p:cNvSpPr>
            <a:spLocks noGrp="1"/>
          </p:cNvSpPr>
          <p:nvPr>
            <p:ph idx="1"/>
          </p:nvPr>
        </p:nvSpPr>
        <p:spPr/>
        <p:txBody>
          <a:bodyPr/>
          <a:lstStyle/>
          <a:p>
            <a:r>
              <a:rPr lang="en-US" dirty="0"/>
              <a:t>Definition</a:t>
            </a:r>
          </a:p>
          <a:p>
            <a:pPr lvl="1"/>
            <a:r>
              <a:rPr lang="en-US" dirty="0"/>
              <a:t>“How much attention does this song demand”</a:t>
            </a:r>
          </a:p>
          <a:p>
            <a:pPr lvl="1"/>
            <a:r>
              <a:rPr lang="en-US" dirty="0"/>
              <a:t>How much tension or pressure is there</a:t>
            </a:r>
          </a:p>
          <a:p>
            <a:r>
              <a:rPr lang="en-US" dirty="0"/>
              <a:t>Labels</a:t>
            </a:r>
          </a:p>
          <a:p>
            <a:pPr lvl="1"/>
            <a:r>
              <a:rPr lang="en-US" dirty="0"/>
              <a:t>Lush: chill, relaxed, “you can do your own thing”</a:t>
            </a:r>
          </a:p>
          <a:p>
            <a:pPr lvl="1"/>
            <a:r>
              <a:rPr lang="en-US" dirty="0"/>
              <a:t>Slight pressure: attention, slight pressure, “well okay.. But actually, I’d like you to listen”, “we are in this together”, the producer assumer the listener is listening</a:t>
            </a:r>
          </a:p>
          <a:p>
            <a:pPr lvl="1"/>
            <a:r>
              <a:rPr lang="en-US" dirty="0"/>
              <a:t>Demanding: pressure, commanding, “though shall listen and do as I say”, a lot of tension</a:t>
            </a:r>
          </a:p>
          <a:p>
            <a:endParaRPr lang="nl-NL" dirty="0"/>
          </a:p>
        </p:txBody>
      </p:sp>
    </p:spTree>
    <p:extLst>
      <p:ext uri="{BB962C8B-B14F-4D97-AF65-F5344CB8AC3E}">
        <p14:creationId xmlns:p14="http://schemas.microsoft.com/office/powerpoint/2010/main" val="547935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7ED17-82EE-F26A-5160-8CFD2321017D}"/>
              </a:ext>
            </a:extLst>
          </p:cNvPr>
          <p:cNvSpPr>
            <a:spLocks noGrp="1"/>
          </p:cNvSpPr>
          <p:nvPr>
            <p:ph type="title"/>
          </p:nvPr>
        </p:nvSpPr>
        <p:spPr/>
        <p:txBody>
          <a:bodyPr/>
          <a:lstStyle/>
          <a:p>
            <a:r>
              <a:rPr lang="en-US" noProof="0" dirty="0"/>
              <a:t>Density</a:t>
            </a:r>
          </a:p>
        </p:txBody>
      </p:sp>
      <p:sp>
        <p:nvSpPr>
          <p:cNvPr id="3" name="Content Placeholder 2">
            <a:extLst>
              <a:ext uri="{FF2B5EF4-FFF2-40B4-BE49-F238E27FC236}">
                <a16:creationId xmlns:a16="http://schemas.microsoft.com/office/drawing/2014/main" id="{58396A06-8AF6-4E5F-9573-03F344297703}"/>
              </a:ext>
            </a:extLst>
          </p:cNvPr>
          <p:cNvSpPr>
            <a:spLocks noGrp="1"/>
          </p:cNvSpPr>
          <p:nvPr>
            <p:ph idx="1"/>
          </p:nvPr>
        </p:nvSpPr>
        <p:spPr/>
        <p:txBody>
          <a:bodyPr>
            <a:normAutofit fontScale="92500" lnSpcReduction="20000"/>
          </a:bodyPr>
          <a:lstStyle/>
          <a:p>
            <a:r>
              <a:rPr lang="en-US" noProof="0" dirty="0"/>
              <a:t>Definition</a:t>
            </a:r>
          </a:p>
          <a:p>
            <a:pPr lvl="1"/>
            <a:r>
              <a:rPr lang="en-US" dirty="0"/>
              <a:t>“How clean is the mix, in terms of separability of instruments”</a:t>
            </a:r>
          </a:p>
          <a:p>
            <a:pPr lvl="1"/>
            <a:r>
              <a:rPr lang="en-US" noProof="0" dirty="0"/>
              <a:t>In general, how much do you need to EQ </a:t>
            </a:r>
            <a:r>
              <a:rPr lang="en-US" dirty="0"/>
              <a:t>when mixing something new in?</a:t>
            </a:r>
          </a:p>
          <a:p>
            <a:pPr lvl="1"/>
            <a:r>
              <a:rPr lang="en-US" dirty="0"/>
              <a:t>Does it feel full? Can be due to mono/stereo, eq, and subdivision timing</a:t>
            </a:r>
          </a:p>
          <a:p>
            <a:pPr lvl="1"/>
            <a:r>
              <a:rPr lang="en-US" dirty="0"/>
              <a:t>It’s not ab</a:t>
            </a:r>
          </a:p>
          <a:p>
            <a:r>
              <a:rPr lang="en-US" noProof="0" dirty="0"/>
              <a:t>Labels</a:t>
            </a:r>
          </a:p>
          <a:p>
            <a:pPr lvl="1"/>
            <a:r>
              <a:rPr lang="en-US" noProof="0" dirty="0"/>
              <a:t>Sparse: separate elements of a track clearly audible, producer wants you to soke them in,</a:t>
            </a:r>
            <a:r>
              <a:rPr lang="en-US" i="1" noProof="0" dirty="0"/>
              <a:t> you can easy add other instruments to the mix</a:t>
            </a:r>
            <a:r>
              <a:rPr lang="en-US" noProof="0" dirty="0"/>
              <a:t>, </a:t>
            </a:r>
            <a:r>
              <a:rPr lang="nl-NL" dirty="0" err="1"/>
              <a:t>foreground</a:t>
            </a:r>
            <a:r>
              <a:rPr lang="nl-NL" dirty="0"/>
              <a:t> </a:t>
            </a:r>
            <a:r>
              <a:rPr lang="nl-NL" dirty="0" err="1"/>
              <a:t>elements</a:t>
            </a:r>
            <a:r>
              <a:rPr lang="nl-NL" dirty="0"/>
              <a:t> </a:t>
            </a:r>
            <a:r>
              <a:rPr lang="nl-NL" dirty="0" err="1"/>
              <a:t>clearly</a:t>
            </a:r>
            <a:r>
              <a:rPr lang="nl-NL" dirty="0"/>
              <a:t> </a:t>
            </a:r>
            <a:r>
              <a:rPr lang="nl-NL" dirty="0" err="1"/>
              <a:t>isolated</a:t>
            </a:r>
            <a:r>
              <a:rPr lang="nl-NL" dirty="0"/>
              <a:t>, </a:t>
            </a:r>
            <a:r>
              <a:rPr lang="nl-NL" dirty="0" err="1"/>
              <a:t>the</a:t>
            </a:r>
            <a:r>
              <a:rPr lang="nl-NL" dirty="0"/>
              <a:t> producer wants </a:t>
            </a:r>
            <a:r>
              <a:rPr lang="nl-NL" dirty="0" err="1"/>
              <a:t>you</a:t>
            </a:r>
            <a:r>
              <a:rPr lang="nl-NL" dirty="0"/>
              <a:t> </a:t>
            </a:r>
            <a:r>
              <a:rPr lang="nl-NL" dirty="0" err="1"/>
              <a:t>to</a:t>
            </a:r>
            <a:r>
              <a:rPr lang="nl-NL" dirty="0"/>
              <a:t> </a:t>
            </a:r>
            <a:r>
              <a:rPr lang="nl-NL" dirty="0" err="1"/>
              <a:t>perceive</a:t>
            </a:r>
            <a:r>
              <a:rPr lang="nl-NL" dirty="0"/>
              <a:t> </a:t>
            </a:r>
            <a:r>
              <a:rPr lang="nl-NL" dirty="0" err="1"/>
              <a:t>each</a:t>
            </a:r>
            <a:r>
              <a:rPr lang="nl-NL" dirty="0"/>
              <a:t> element </a:t>
            </a:r>
            <a:r>
              <a:rPr lang="nl-NL" dirty="0" err="1"/>
              <a:t>seperate</a:t>
            </a:r>
            <a:endParaRPr lang="en-US" noProof="0" dirty="0"/>
          </a:p>
          <a:p>
            <a:pPr lvl="1"/>
            <a:r>
              <a:rPr lang="en-US" noProof="0" dirty="0"/>
              <a:t>Integrated: elements blend but remain perceptible</a:t>
            </a:r>
          </a:p>
          <a:p>
            <a:pPr lvl="1"/>
            <a:r>
              <a:rPr lang="en-US" noProof="0" dirty="0"/>
              <a:t>Full: perceptual overload, a fused mee, lots of sounds together, can be overwhelming, sounds really full, you are definitely not going to separate out the different instruments as a casual listener, </a:t>
            </a:r>
            <a:r>
              <a:rPr lang="en-US" i="1" noProof="0" dirty="0"/>
              <a:t>no place to add another sound</a:t>
            </a:r>
            <a:r>
              <a:rPr lang="en-US" noProof="0" dirty="0"/>
              <a:t>, no clear foreground perhaps</a:t>
            </a:r>
          </a:p>
        </p:txBody>
      </p:sp>
    </p:spTree>
    <p:extLst>
      <p:ext uri="{BB962C8B-B14F-4D97-AF65-F5344CB8AC3E}">
        <p14:creationId xmlns:p14="http://schemas.microsoft.com/office/powerpoint/2010/main" val="3157003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8AE6F-C521-74A6-FA93-A76BDEF71DC5}"/>
              </a:ext>
            </a:extLst>
          </p:cNvPr>
          <p:cNvSpPr>
            <a:spLocks noGrp="1"/>
          </p:cNvSpPr>
          <p:nvPr>
            <p:ph type="title"/>
          </p:nvPr>
        </p:nvSpPr>
        <p:spPr/>
        <p:txBody>
          <a:bodyPr/>
          <a:lstStyle/>
          <a:p>
            <a:r>
              <a:rPr lang="nl-NL" dirty="0" err="1"/>
              <a:t>Cleanliness</a:t>
            </a:r>
            <a:endParaRPr lang="nl-NL" dirty="0"/>
          </a:p>
        </p:txBody>
      </p:sp>
      <p:sp>
        <p:nvSpPr>
          <p:cNvPr id="3" name="Content Placeholder 2">
            <a:extLst>
              <a:ext uri="{FF2B5EF4-FFF2-40B4-BE49-F238E27FC236}">
                <a16:creationId xmlns:a16="http://schemas.microsoft.com/office/drawing/2014/main" id="{00508793-06BE-E5DB-85CE-DBD75695483B}"/>
              </a:ext>
            </a:extLst>
          </p:cNvPr>
          <p:cNvSpPr>
            <a:spLocks noGrp="1"/>
          </p:cNvSpPr>
          <p:nvPr>
            <p:ph idx="1"/>
          </p:nvPr>
        </p:nvSpPr>
        <p:spPr/>
        <p:txBody>
          <a:bodyPr>
            <a:normAutofit/>
          </a:bodyPr>
          <a:lstStyle/>
          <a:p>
            <a:r>
              <a:rPr lang="en-US" dirty="0"/>
              <a:t>Definition</a:t>
            </a:r>
          </a:p>
          <a:p>
            <a:pPr lvl="1"/>
            <a:r>
              <a:rPr lang="en-US" dirty="0"/>
              <a:t>“How clean is the mix, in terms of separability of instruments”</a:t>
            </a:r>
          </a:p>
          <a:p>
            <a:pPr lvl="1"/>
            <a:r>
              <a:rPr lang="en-US" dirty="0"/>
              <a:t>In general, how much do you need to EQ when mixing something new in?</a:t>
            </a:r>
          </a:p>
          <a:p>
            <a:r>
              <a:rPr lang="en-US" dirty="0"/>
              <a:t>Labels</a:t>
            </a:r>
          </a:p>
          <a:p>
            <a:pPr lvl="1"/>
            <a:r>
              <a:rPr lang="en-US" dirty="0"/>
              <a:t>Sludge: you are definitely not going to separate out the different instruments as a casual listener, </a:t>
            </a:r>
            <a:r>
              <a:rPr lang="en-US" i="1" dirty="0"/>
              <a:t>no place to add another sound</a:t>
            </a:r>
            <a:r>
              <a:rPr lang="en-US" dirty="0"/>
              <a:t>, no clear foreground perhaps, sound is smushed together</a:t>
            </a:r>
          </a:p>
          <a:p>
            <a:pPr lvl="1"/>
            <a:r>
              <a:rPr lang="en-US" dirty="0"/>
              <a:t>Integrated: elements blend but remain perceptible</a:t>
            </a:r>
          </a:p>
          <a:p>
            <a:pPr lvl="1"/>
            <a:r>
              <a:rPr lang="en-US" dirty="0"/>
              <a:t>Clean: separate elements of a track clearly audible, producer wants you to soke them in,</a:t>
            </a:r>
            <a:r>
              <a:rPr lang="en-US" i="1" dirty="0"/>
              <a:t> you can easy add other instruments to the mix</a:t>
            </a:r>
            <a:r>
              <a:rPr lang="en-US" dirty="0"/>
              <a:t>, </a:t>
            </a:r>
            <a:r>
              <a:rPr lang="nl-NL" dirty="0" err="1"/>
              <a:t>foreground</a:t>
            </a:r>
            <a:r>
              <a:rPr lang="nl-NL" dirty="0"/>
              <a:t> </a:t>
            </a:r>
            <a:r>
              <a:rPr lang="nl-NL" dirty="0" err="1"/>
              <a:t>elements</a:t>
            </a:r>
            <a:r>
              <a:rPr lang="nl-NL" dirty="0"/>
              <a:t> </a:t>
            </a:r>
            <a:r>
              <a:rPr lang="nl-NL" dirty="0" err="1"/>
              <a:t>clearly</a:t>
            </a:r>
            <a:r>
              <a:rPr lang="nl-NL" dirty="0"/>
              <a:t> </a:t>
            </a:r>
            <a:r>
              <a:rPr lang="nl-NL" dirty="0" err="1"/>
              <a:t>isolated</a:t>
            </a:r>
            <a:endParaRPr lang="nl-NL" dirty="0"/>
          </a:p>
        </p:txBody>
      </p:sp>
    </p:spTree>
    <p:extLst>
      <p:ext uri="{BB962C8B-B14F-4D97-AF65-F5344CB8AC3E}">
        <p14:creationId xmlns:p14="http://schemas.microsoft.com/office/powerpoint/2010/main" val="2708936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EB376-69D1-CA75-C78E-18E0A8D6471A}"/>
              </a:ext>
            </a:extLst>
          </p:cNvPr>
          <p:cNvSpPr>
            <a:spLocks noGrp="1"/>
          </p:cNvSpPr>
          <p:nvPr>
            <p:ph type="title"/>
          </p:nvPr>
        </p:nvSpPr>
        <p:spPr/>
        <p:txBody>
          <a:bodyPr/>
          <a:lstStyle/>
          <a:p>
            <a:r>
              <a:rPr lang="nl-NL" dirty="0" err="1"/>
              <a:t>Fullness</a:t>
            </a:r>
            <a:endParaRPr lang="nl-NL" dirty="0"/>
          </a:p>
        </p:txBody>
      </p:sp>
      <p:sp>
        <p:nvSpPr>
          <p:cNvPr id="3" name="Content Placeholder 2">
            <a:extLst>
              <a:ext uri="{FF2B5EF4-FFF2-40B4-BE49-F238E27FC236}">
                <a16:creationId xmlns:a16="http://schemas.microsoft.com/office/drawing/2014/main" id="{0E80A34C-F49F-7379-1BAE-9AA254F8E6D1}"/>
              </a:ext>
            </a:extLst>
          </p:cNvPr>
          <p:cNvSpPr>
            <a:spLocks noGrp="1"/>
          </p:cNvSpPr>
          <p:nvPr>
            <p:ph idx="1"/>
          </p:nvPr>
        </p:nvSpPr>
        <p:spPr/>
        <p:txBody>
          <a:bodyPr>
            <a:normAutofit fontScale="92500" lnSpcReduction="20000"/>
          </a:bodyPr>
          <a:lstStyle/>
          <a:p>
            <a:r>
              <a:rPr lang="nl-NL" dirty="0"/>
              <a:t>Definition</a:t>
            </a:r>
          </a:p>
          <a:p>
            <a:pPr lvl="1"/>
            <a:r>
              <a:rPr lang="nl-NL" dirty="0"/>
              <a:t>“</a:t>
            </a:r>
            <a:r>
              <a:rPr lang="nl-NL" dirty="0" err="1"/>
              <a:t>how</a:t>
            </a:r>
            <a:r>
              <a:rPr lang="nl-NL" dirty="0"/>
              <a:t> does </a:t>
            </a:r>
            <a:r>
              <a:rPr lang="nl-NL" dirty="0" err="1"/>
              <a:t>the</a:t>
            </a:r>
            <a:r>
              <a:rPr lang="nl-NL" dirty="0"/>
              <a:t> sound </a:t>
            </a:r>
            <a:r>
              <a:rPr lang="nl-NL" dirty="0" err="1"/>
              <a:t>fill</a:t>
            </a:r>
            <a:r>
              <a:rPr lang="nl-NL" dirty="0"/>
              <a:t> </a:t>
            </a:r>
            <a:r>
              <a:rPr lang="nl-NL" dirty="0" err="1"/>
              <a:t>the</a:t>
            </a:r>
            <a:r>
              <a:rPr lang="nl-NL" dirty="0"/>
              <a:t> </a:t>
            </a:r>
            <a:r>
              <a:rPr lang="nl-NL" dirty="0" err="1"/>
              <a:t>space</a:t>
            </a:r>
            <a:r>
              <a:rPr lang="nl-NL" dirty="0"/>
              <a:t>” </a:t>
            </a:r>
          </a:p>
          <a:p>
            <a:r>
              <a:rPr lang="nl-NL" dirty="0"/>
              <a:t>Labels</a:t>
            </a:r>
          </a:p>
          <a:p>
            <a:pPr lvl="1"/>
            <a:r>
              <a:rPr lang="nl-NL" dirty="0"/>
              <a:t>A </a:t>
            </a:r>
            <a:r>
              <a:rPr lang="nl-NL" dirty="0" err="1"/>
              <a:t>tad</a:t>
            </a:r>
            <a:r>
              <a:rPr lang="nl-NL" dirty="0"/>
              <a:t> empty: </a:t>
            </a:r>
            <a:r>
              <a:rPr lang="nl-NL" dirty="0" err="1"/>
              <a:t>you</a:t>
            </a:r>
            <a:r>
              <a:rPr lang="nl-NL" dirty="0"/>
              <a:t> are missing </a:t>
            </a:r>
            <a:r>
              <a:rPr lang="nl-NL" dirty="0" err="1"/>
              <a:t>something</a:t>
            </a:r>
            <a:r>
              <a:rPr lang="nl-NL" dirty="0"/>
              <a:t>, </a:t>
            </a:r>
            <a:r>
              <a:rPr lang="nl-NL" dirty="0" err="1"/>
              <a:t>might</a:t>
            </a:r>
            <a:r>
              <a:rPr lang="nl-NL" dirty="0"/>
              <a:t> </a:t>
            </a:r>
            <a:r>
              <a:rPr lang="nl-NL" dirty="0" err="1"/>
              <a:t>be</a:t>
            </a:r>
            <a:r>
              <a:rPr lang="nl-NL" dirty="0"/>
              <a:t> </a:t>
            </a:r>
            <a:r>
              <a:rPr lang="nl-NL" dirty="0" err="1"/>
              <a:t>that</a:t>
            </a:r>
            <a:r>
              <a:rPr lang="nl-NL" dirty="0"/>
              <a:t> </a:t>
            </a:r>
            <a:r>
              <a:rPr lang="nl-NL" dirty="0" err="1"/>
              <a:t>you</a:t>
            </a:r>
            <a:r>
              <a:rPr lang="nl-NL" dirty="0"/>
              <a:t> </a:t>
            </a:r>
            <a:r>
              <a:rPr lang="nl-NL" dirty="0" err="1"/>
              <a:t>could</a:t>
            </a:r>
            <a:r>
              <a:rPr lang="nl-NL" dirty="0"/>
              <a:t> </a:t>
            </a:r>
            <a:r>
              <a:rPr lang="nl-NL" dirty="0" err="1"/>
              <a:t>add</a:t>
            </a:r>
            <a:r>
              <a:rPr lang="nl-NL" dirty="0"/>
              <a:t> a pad or </a:t>
            </a:r>
            <a:r>
              <a:rPr lang="nl-NL" dirty="0" err="1"/>
              <a:t>some</a:t>
            </a:r>
            <a:r>
              <a:rPr lang="nl-NL" dirty="0"/>
              <a:t> </a:t>
            </a:r>
            <a:r>
              <a:rPr lang="nl-NL" dirty="0" err="1"/>
              <a:t>bass</a:t>
            </a:r>
            <a:r>
              <a:rPr lang="nl-NL" dirty="0"/>
              <a:t> or </a:t>
            </a:r>
            <a:r>
              <a:rPr lang="nl-NL" dirty="0" err="1"/>
              <a:t>some</a:t>
            </a:r>
            <a:r>
              <a:rPr lang="nl-NL" dirty="0"/>
              <a:t> more stereo, “like </a:t>
            </a:r>
            <a:r>
              <a:rPr lang="nl-NL" dirty="0" err="1"/>
              <a:t>an</a:t>
            </a:r>
            <a:r>
              <a:rPr lang="nl-NL" dirty="0"/>
              <a:t> empty room”</a:t>
            </a:r>
          </a:p>
          <a:p>
            <a:pPr lvl="1"/>
            <a:r>
              <a:rPr lang="nl-NL" dirty="0" err="1"/>
              <a:t>Spacious</a:t>
            </a:r>
            <a:r>
              <a:rPr lang="nl-NL" dirty="0"/>
              <a:t>: a </a:t>
            </a:r>
            <a:r>
              <a:rPr lang="nl-NL" dirty="0" err="1"/>
              <a:t>nice</a:t>
            </a:r>
            <a:r>
              <a:rPr lang="nl-NL" dirty="0"/>
              <a:t> mix, </a:t>
            </a:r>
            <a:r>
              <a:rPr lang="nl-NL" dirty="0" err="1"/>
              <a:t>with</a:t>
            </a:r>
            <a:r>
              <a:rPr lang="nl-NL" dirty="0"/>
              <a:t> </a:t>
            </a:r>
            <a:r>
              <a:rPr lang="nl-NL" dirty="0" err="1"/>
              <a:t>feels</a:t>
            </a:r>
            <a:r>
              <a:rPr lang="nl-NL" dirty="0"/>
              <a:t> </a:t>
            </a:r>
            <a:r>
              <a:rPr lang="nl-NL" dirty="0" err="1"/>
              <a:t>spacious</a:t>
            </a:r>
            <a:r>
              <a:rPr lang="nl-NL" dirty="0"/>
              <a:t>, </a:t>
            </a:r>
            <a:r>
              <a:rPr lang="nl-NL" dirty="0" err="1"/>
              <a:t>there</a:t>
            </a:r>
            <a:r>
              <a:rPr lang="nl-NL" dirty="0"/>
              <a:t> is room in </a:t>
            </a:r>
            <a:r>
              <a:rPr lang="nl-NL" dirty="0" err="1"/>
              <a:t>the</a:t>
            </a:r>
            <a:r>
              <a:rPr lang="nl-NL" dirty="0"/>
              <a:t> </a:t>
            </a:r>
            <a:r>
              <a:rPr lang="nl-NL" dirty="0" err="1"/>
              <a:t>middle</a:t>
            </a:r>
            <a:r>
              <a:rPr lang="nl-NL" dirty="0"/>
              <a:t>, but </a:t>
            </a:r>
            <a:r>
              <a:rPr lang="nl-NL" dirty="0" err="1"/>
              <a:t>the</a:t>
            </a:r>
            <a:r>
              <a:rPr lang="nl-NL" dirty="0"/>
              <a:t> </a:t>
            </a:r>
            <a:r>
              <a:rPr lang="nl-NL" dirty="0" err="1"/>
              <a:t>whole</a:t>
            </a:r>
            <a:r>
              <a:rPr lang="nl-NL" dirty="0"/>
              <a:t> does </a:t>
            </a:r>
            <a:r>
              <a:rPr lang="nl-NL" dirty="0" err="1"/>
              <a:t>definitely</a:t>
            </a:r>
            <a:r>
              <a:rPr lang="nl-NL" dirty="0"/>
              <a:t> </a:t>
            </a:r>
            <a:r>
              <a:rPr lang="nl-NL" dirty="0" err="1"/>
              <a:t>not</a:t>
            </a:r>
            <a:r>
              <a:rPr lang="nl-NL" dirty="0"/>
              <a:t> feel empty, “like </a:t>
            </a:r>
            <a:r>
              <a:rPr lang="nl-NL" dirty="0" err="1"/>
              <a:t>siting</a:t>
            </a:r>
            <a:r>
              <a:rPr lang="nl-NL" dirty="0"/>
              <a:t> in </a:t>
            </a:r>
            <a:r>
              <a:rPr lang="nl-NL" dirty="0" err="1"/>
              <a:t>the</a:t>
            </a:r>
            <a:r>
              <a:rPr lang="nl-NL" dirty="0"/>
              <a:t> </a:t>
            </a:r>
            <a:r>
              <a:rPr lang="nl-NL" dirty="0" err="1"/>
              <a:t>sun</a:t>
            </a:r>
            <a:r>
              <a:rPr lang="nl-NL" dirty="0"/>
              <a:t> on </a:t>
            </a:r>
            <a:r>
              <a:rPr lang="nl-NL" dirty="0" err="1"/>
              <a:t>an</a:t>
            </a:r>
            <a:r>
              <a:rPr lang="nl-NL" dirty="0"/>
              <a:t> empty </a:t>
            </a:r>
            <a:r>
              <a:rPr lang="nl-NL" dirty="0" err="1"/>
              <a:t>beach</a:t>
            </a:r>
            <a:r>
              <a:rPr lang="nl-NL" dirty="0"/>
              <a:t> </a:t>
            </a:r>
            <a:r>
              <a:rPr lang="nl-NL" dirty="0" err="1"/>
              <a:t>with</a:t>
            </a:r>
            <a:r>
              <a:rPr lang="nl-NL" dirty="0"/>
              <a:t> </a:t>
            </a:r>
            <a:r>
              <a:rPr lang="nl-NL" dirty="0" err="1"/>
              <a:t>your</a:t>
            </a:r>
            <a:r>
              <a:rPr lang="nl-NL" dirty="0"/>
              <a:t> lover </a:t>
            </a:r>
            <a:r>
              <a:rPr lang="nl-NL" dirty="0" err="1"/>
              <a:t>perhaps</a:t>
            </a:r>
            <a:r>
              <a:rPr lang="nl-NL" dirty="0"/>
              <a:t>”</a:t>
            </a:r>
          </a:p>
          <a:p>
            <a:pPr lvl="1"/>
            <a:r>
              <a:rPr lang="nl-NL" dirty="0" err="1"/>
              <a:t>Cozy</a:t>
            </a:r>
            <a:r>
              <a:rPr lang="nl-NL" dirty="0"/>
              <a:t>: a </a:t>
            </a:r>
            <a:r>
              <a:rPr lang="nl-NL" dirty="0" err="1"/>
              <a:t>nice</a:t>
            </a:r>
            <a:r>
              <a:rPr lang="nl-NL" dirty="0"/>
              <a:t> mix, </a:t>
            </a:r>
            <a:r>
              <a:rPr lang="nl-NL" dirty="0" err="1"/>
              <a:t>there</a:t>
            </a:r>
            <a:r>
              <a:rPr lang="nl-NL" dirty="0"/>
              <a:t> is </a:t>
            </a:r>
            <a:r>
              <a:rPr lang="nl-NL" dirty="0" err="1"/>
              <a:t>something</a:t>
            </a:r>
            <a:r>
              <a:rPr lang="nl-NL" dirty="0"/>
              <a:t> in </a:t>
            </a:r>
            <a:r>
              <a:rPr lang="nl-NL" dirty="0" err="1"/>
              <a:t>the</a:t>
            </a:r>
            <a:r>
              <a:rPr lang="nl-NL" dirty="0"/>
              <a:t> </a:t>
            </a:r>
            <a:r>
              <a:rPr lang="nl-NL" dirty="0" err="1"/>
              <a:t>middle</a:t>
            </a:r>
            <a:r>
              <a:rPr lang="nl-NL" dirty="0"/>
              <a:t>, </a:t>
            </a:r>
            <a:r>
              <a:rPr lang="nl-NL" dirty="0" err="1"/>
              <a:t>inbetween</a:t>
            </a:r>
            <a:r>
              <a:rPr lang="nl-NL" dirty="0"/>
              <a:t> </a:t>
            </a:r>
            <a:r>
              <a:rPr lang="nl-NL" dirty="0" err="1"/>
              <a:t>spacious</a:t>
            </a:r>
            <a:r>
              <a:rPr lang="nl-NL" dirty="0"/>
              <a:t> </a:t>
            </a:r>
            <a:r>
              <a:rPr lang="nl-NL" dirty="0" err="1"/>
              <a:t>and</a:t>
            </a:r>
            <a:r>
              <a:rPr lang="nl-NL" dirty="0"/>
              <a:t> full, “like a </a:t>
            </a:r>
            <a:r>
              <a:rPr lang="nl-NL" dirty="0" err="1"/>
              <a:t>christmas</a:t>
            </a:r>
            <a:r>
              <a:rPr lang="nl-NL" dirty="0"/>
              <a:t> diner </a:t>
            </a:r>
            <a:r>
              <a:rPr lang="nl-NL" dirty="0" err="1"/>
              <a:t>with</a:t>
            </a:r>
            <a:r>
              <a:rPr lang="nl-NL" dirty="0"/>
              <a:t> a few </a:t>
            </a:r>
            <a:r>
              <a:rPr lang="nl-NL" dirty="0" err="1"/>
              <a:t>friends</a:t>
            </a:r>
            <a:r>
              <a:rPr lang="nl-NL" dirty="0"/>
              <a:t>”</a:t>
            </a:r>
          </a:p>
          <a:p>
            <a:pPr lvl="1"/>
            <a:r>
              <a:rPr lang="nl-NL" dirty="0"/>
              <a:t>Full: a </a:t>
            </a:r>
            <a:r>
              <a:rPr lang="nl-NL" dirty="0" err="1"/>
              <a:t>nice</a:t>
            </a:r>
            <a:r>
              <a:rPr lang="nl-NL" dirty="0"/>
              <a:t>, full mix, </a:t>
            </a:r>
            <a:r>
              <a:rPr lang="nl-NL" dirty="0" err="1"/>
              <a:t>might</a:t>
            </a:r>
            <a:r>
              <a:rPr lang="nl-NL" dirty="0"/>
              <a:t> </a:t>
            </a:r>
            <a:r>
              <a:rPr lang="nl-NL" dirty="0" err="1"/>
              <a:t>be</a:t>
            </a:r>
            <a:r>
              <a:rPr lang="nl-NL" dirty="0"/>
              <a:t> </a:t>
            </a:r>
            <a:r>
              <a:rPr lang="nl-NL" dirty="0" err="1"/>
              <a:t>overstimulating</a:t>
            </a:r>
            <a:r>
              <a:rPr lang="nl-NL" dirty="0"/>
              <a:t>, “like a full pub”, but </a:t>
            </a:r>
            <a:r>
              <a:rPr lang="nl-NL" dirty="0" err="1"/>
              <a:t>it</a:t>
            </a:r>
            <a:r>
              <a:rPr lang="nl-NL" dirty="0"/>
              <a:t> </a:t>
            </a:r>
            <a:r>
              <a:rPr lang="nl-NL" dirty="0" err="1"/>
              <a:t>can</a:t>
            </a:r>
            <a:r>
              <a:rPr lang="nl-NL" dirty="0"/>
              <a:t> </a:t>
            </a:r>
            <a:r>
              <a:rPr lang="nl-NL" dirty="0" err="1"/>
              <a:t>be</a:t>
            </a:r>
            <a:r>
              <a:rPr lang="nl-NL" dirty="0"/>
              <a:t> a pub </a:t>
            </a:r>
            <a:r>
              <a:rPr lang="nl-NL" dirty="0" err="1"/>
              <a:t>with</a:t>
            </a:r>
            <a:r>
              <a:rPr lang="nl-NL" dirty="0"/>
              <a:t> bad </a:t>
            </a:r>
            <a:r>
              <a:rPr lang="nl-NL" dirty="0" err="1"/>
              <a:t>acoustics</a:t>
            </a:r>
            <a:r>
              <a:rPr lang="nl-NL" dirty="0"/>
              <a:t> </a:t>
            </a:r>
            <a:r>
              <a:rPr lang="nl-NL" dirty="0" err="1"/>
              <a:t>and</a:t>
            </a:r>
            <a:r>
              <a:rPr lang="nl-NL" dirty="0"/>
              <a:t> a </a:t>
            </a:r>
            <a:r>
              <a:rPr lang="nl-NL" dirty="0" err="1"/>
              <a:t>sludge</a:t>
            </a:r>
            <a:r>
              <a:rPr lang="nl-NL" dirty="0"/>
              <a:t> sound, or a pub </a:t>
            </a:r>
            <a:r>
              <a:rPr lang="nl-NL" dirty="0" err="1"/>
              <a:t>with</a:t>
            </a:r>
            <a:r>
              <a:rPr lang="nl-NL" dirty="0"/>
              <a:t> </a:t>
            </a:r>
            <a:r>
              <a:rPr lang="nl-NL" dirty="0" err="1"/>
              <a:t>good</a:t>
            </a:r>
            <a:r>
              <a:rPr lang="nl-NL" dirty="0"/>
              <a:t> </a:t>
            </a:r>
            <a:r>
              <a:rPr lang="nl-NL" dirty="0" err="1"/>
              <a:t>acoustics</a:t>
            </a:r>
            <a:r>
              <a:rPr lang="nl-NL" dirty="0"/>
              <a:t>, </a:t>
            </a:r>
            <a:r>
              <a:rPr lang="nl-NL" dirty="0" err="1"/>
              <a:t>very</a:t>
            </a:r>
            <a:r>
              <a:rPr lang="nl-NL" dirty="0"/>
              <a:t> different </a:t>
            </a:r>
            <a:r>
              <a:rPr lang="nl-NL" dirty="0" err="1"/>
              <a:t>voices</a:t>
            </a:r>
            <a:r>
              <a:rPr lang="nl-NL" dirty="0"/>
              <a:t> </a:t>
            </a:r>
            <a:r>
              <a:rPr lang="nl-NL" dirty="0" err="1"/>
              <a:t>and</a:t>
            </a:r>
            <a:r>
              <a:rPr lang="nl-NL" dirty="0"/>
              <a:t> </a:t>
            </a:r>
            <a:r>
              <a:rPr lang="nl-NL" dirty="0" err="1"/>
              <a:t>you</a:t>
            </a:r>
            <a:r>
              <a:rPr lang="nl-NL" dirty="0"/>
              <a:t> are high </a:t>
            </a:r>
            <a:r>
              <a:rPr lang="nl-NL" dirty="0" err="1"/>
              <a:t>and</a:t>
            </a:r>
            <a:r>
              <a:rPr lang="nl-NL" dirty="0"/>
              <a:t> </a:t>
            </a:r>
            <a:r>
              <a:rPr lang="nl-NL" dirty="0" err="1"/>
              <a:t>perceive</a:t>
            </a:r>
            <a:r>
              <a:rPr lang="nl-NL" dirty="0"/>
              <a:t> </a:t>
            </a:r>
            <a:r>
              <a:rPr lang="nl-NL" dirty="0" err="1"/>
              <a:t>everything</a:t>
            </a:r>
            <a:r>
              <a:rPr lang="nl-NL" dirty="0"/>
              <a:t> </a:t>
            </a:r>
            <a:r>
              <a:rPr lang="nl-NL" dirty="0" err="1"/>
              <a:t>very</a:t>
            </a:r>
            <a:r>
              <a:rPr lang="nl-NL" dirty="0"/>
              <a:t> </a:t>
            </a:r>
            <a:r>
              <a:rPr lang="nl-NL" dirty="0" err="1"/>
              <a:t>clear</a:t>
            </a:r>
            <a:r>
              <a:rPr lang="nl-NL" dirty="0"/>
              <a:t>, or “</a:t>
            </a:r>
            <a:r>
              <a:rPr lang="nl-NL" dirty="0" err="1"/>
              <a:t>somebody</a:t>
            </a:r>
            <a:r>
              <a:rPr lang="nl-NL" dirty="0"/>
              <a:t> is </a:t>
            </a:r>
            <a:r>
              <a:rPr lang="nl-NL" dirty="0" err="1"/>
              <a:t>shouting</a:t>
            </a:r>
            <a:r>
              <a:rPr lang="nl-NL" dirty="0"/>
              <a:t> at </a:t>
            </a:r>
            <a:r>
              <a:rPr lang="nl-NL" dirty="0" err="1"/>
              <a:t>you</a:t>
            </a:r>
            <a:r>
              <a:rPr lang="nl-NL" dirty="0"/>
              <a:t>”</a:t>
            </a:r>
          </a:p>
        </p:txBody>
      </p:sp>
    </p:spTree>
    <p:extLst>
      <p:ext uri="{BB962C8B-B14F-4D97-AF65-F5344CB8AC3E}">
        <p14:creationId xmlns:p14="http://schemas.microsoft.com/office/powerpoint/2010/main" val="1058040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F55EC-B46B-D1CA-73D9-9A91E0C5C67C}"/>
              </a:ext>
            </a:extLst>
          </p:cNvPr>
          <p:cNvSpPr>
            <a:spLocks noGrp="1"/>
          </p:cNvSpPr>
          <p:nvPr>
            <p:ph type="title"/>
          </p:nvPr>
        </p:nvSpPr>
        <p:spPr/>
        <p:txBody>
          <a:bodyPr/>
          <a:lstStyle/>
          <a:p>
            <a:r>
              <a:rPr lang="nl-NL" dirty="0" err="1"/>
              <a:t>Density</a:t>
            </a:r>
            <a:endParaRPr lang="nl-NL" dirty="0"/>
          </a:p>
        </p:txBody>
      </p:sp>
      <p:sp>
        <p:nvSpPr>
          <p:cNvPr id="3" name="Text Placeholder 2">
            <a:extLst>
              <a:ext uri="{FF2B5EF4-FFF2-40B4-BE49-F238E27FC236}">
                <a16:creationId xmlns:a16="http://schemas.microsoft.com/office/drawing/2014/main" id="{BF6DED3F-4B74-70E8-7115-089F3A8E88DA}"/>
              </a:ext>
            </a:extLst>
          </p:cNvPr>
          <p:cNvSpPr>
            <a:spLocks noGrp="1"/>
          </p:cNvSpPr>
          <p:nvPr>
            <p:ph type="body" idx="1"/>
          </p:nvPr>
        </p:nvSpPr>
        <p:spPr/>
        <p:txBody>
          <a:bodyPr/>
          <a:lstStyle/>
          <a:p>
            <a:r>
              <a:rPr lang="nl-NL" dirty="0" err="1"/>
              <a:t>Cleanliness</a:t>
            </a:r>
            <a:endParaRPr lang="nl-NL" dirty="0"/>
          </a:p>
        </p:txBody>
      </p:sp>
      <p:sp>
        <p:nvSpPr>
          <p:cNvPr id="4" name="Content Placeholder 3">
            <a:extLst>
              <a:ext uri="{FF2B5EF4-FFF2-40B4-BE49-F238E27FC236}">
                <a16:creationId xmlns:a16="http://schemas.microsoft.com/office/drawing/2014/main" id="{7DA95538-E591-874F-999C-835D8DEC16AD}"/>
              </a:ext>
            </a:extLst>
          </p:cNvPr>
          <p:cNvSpPr>
            <a:spLocks noGrp="1"/>
          </p:cNvSpPr>
          <p:nvPr>
            <p:ph sz="half" idx="2"/>
          </p:nvPr>
        </p:nvSpPr>
        <p:spPr/>
        <p:txBody>
          <a:bodyPr/>
          <a:lstStyle/>
          <a:p>
            <a:r>
              <a:rPr lang="nl-NL" dirty="0" err="1"/>
              <a:t>Sludge</a:t>
            </a:r>
            <a:endParaRPr lang="nl-NL" dirty="0"/>
          </a:p>
          <a:p>
            <a:r>
              <a:rPr lang="nl-NL" dirty="0" err="1"/>
              <a:t>Integrated</a:t>
            </a:r>
            <a:endParaRPr lang="nl-NL" dirty="0"/>
          </a:p>
          <a:p>
            <a:r>
              <a:rPr lang="nl-NL" dirty="0"/>
              <a:t>Clean</a:t>
            </a:r>
          </a:p>
        </p:txBody>
      </p:sp>
      <p:sp>
        <p:nvSpPr>
          <p:cNvPr id="5" name="Text Placeholder 4">
            <a:extLst>
              <a:ext uri="{FF2B5EF4-FFF2-40B4-BE49-F238E27FC236}">
                <a16:creationId xmlns:a16="http://schemas.microsoft.com/office/drawing/2014/main" id="{76A15690-6D72-5C8D-9866-091829D217CF}"/>
              </a:ext>
            </a:extLst>
          </p:cNvPr>
          <p:cNvSpPr>
            <a:spLocks noGrp="1"/>
          </p:cNvSpPr>
          <p:nvPr>
            <p:ph type="body" sz="quarter" idx="3"/>
          </p:nvPr>
        </p:nvSpPr>
        <p:spPr/>
        <p:txBody>
          <a:bodyPr/>
          <a:lstStyle/>
          <a:p>
            <a:r>
              <a:rPr lang="nl-NL" dirty="0" err="1"/>
              <a:t>Fullness</a:t>
            </a:r>
            <a:r>
              <a:rPr lang="nl-NL" dirty="0"/>
              <a:t> (is </a:t>
            </a:r>
            <a:r>
              <a:rPr lang="nl-NL" dirty="0" err="1"/>
              <a:t>there</a:t>
            </a:r>
            <a:r>
              <a:rPr lang="nl-NL" dirty="0"/>
              <a:t> </a:t>
            </a:r>
            <a:r>
              <a:rPr lang="nl-NL" dirty="0" err="1"/>
              <a:t>bass</a:t>
            </a:r>
            <a:r>
              <a:rPr lang="nl-NL" dirty="0"/>
              <a:t>, is </a:t>
            </a:r>
            <a:r>
              <a:rPr lang="nl-NL" dirty="0" err="1"/>
              <a:t>there</a:t>
            </a:r>
            <a:r>
              <a:rPr lang="nl-NL" dirty="0"/>
              <a:t> a pad, stereo </a:t>
            </a:r>
            <a:r>
              <a:rPr lang="nl-NL" dirty="0" err="1"/>
              <a:t>width</a:t>
            </a:r>
            <a:r>
              <a:rPr lang="nl-NL" dirty="0"/>
              <a:t>)</a:t>
            </a:r>
          </a:p>
        </p:txBody>
      </p:sp>
      <p:sp>
        <p:nvSpPr>
          <p:cNvPr id="6" name="Content Placeholder 5">
            <a:extLst>
              <a:ext uri="{FF2B5EF4-FFF2-40B4-BE49-F238E27FC236}">
                <a16:creationId xmlns:a16="http://schemas.microsoft.com/office/drawing/2014/main" id="{D394158C-1B5D-B81A-6136-8A03FFB3CA2E}"/>
              </a:ext>
            </a:extLst>
          </p:cNvPr>
          <p:cNvSpPr>
            <a:spLocks noGrp="1"/>
          </p:cNvSpPr>
          <p:nvPr>
            <p:ph sz="quarter" idx="4"/>
          </p:nvPr>
        </p:nvSpPr>
        <p:spPr/>
        <p:txBody>
          <a:bodyPr/>
          <a:lstStyle/>
          <a:p>
            <a:r>
              <a:rPr lang="nl-NL" dirty="0" err="1"/>
              <a:t>Sparse</a:t>
            </a:r>
            <a:endParaRPr lang="nl-NL" dirty="0"/>
          </a:p>
          <a:p>
            <a:r>
              <a:rPr lang="nl-NL" dirty="0" err="1"/>
              <a:t>Cozy</a:t>
            </a:r>
            <a:endParaRPr lang="nl-NL" dirty="0"/>
          </a:p>
          <a:p>
            <a:r>
              <a:rPr lang="nl-NL" dirty="0"/>
              <a:t>Full</a:t>
            </a:r>
          </a:p>
        </p:txBody>
      </p:sp>
    </p:spTree>
    <p:extLst>
      <p:ext uri="{BB962C8B-B14F-4D97-AF65-F5344CB8AC3E}">
        <p14:creationId xmlns:p14="http://schemas.microsoft.com/office/powerpoint/2010/main" val="605074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CA872-F419-A826-C37F-FFC67FF75013}"/>
              </a:ext>
            </a:extLst>
          </p:cNvPr>
          <p:cNvSpPr>
            <a:spLocks noGrp="1"/>
          </p:cNvSpPr>
          <p:nvPr>
            <p:ph type="title"/>
          </p:nvPr>
        </p:nvSpPr>
        <p:spPr/>
        <p:txBody>
          <a:bodyPr/>
          <a:lstStyle/>
          <a:p>
            <a:r>
              <a:rPr lang="nl-NL" dirty="0" err="1"/>
              <a:t>Warning</a:t>
            </a:r>
            <a:endParaRPr lang="nl-NL" dirty="0"/>
          </a:p>
        </p:txBody>
      </p:sp>
      <p:sp>
        <p:nvSpPr>
          <p:cNvPr id="3" name="Content Placeholder 2">
            <a:extLst>
              <a:ext uri="{FF2B5EF4-FFF2-40B4-BE49-F238E27FC236}">
                <a16:creationId xmlns:a16="http://schemas.microsoft.com/office/drawing/2014/main" id="{29F35467-D65E-2D9A-9FC5-9BB3C8C089E0}"/>
              </a:ext>
            </a:extLst>
          </p:cNvPr>
          <p:cNvSpPr>
            <a:spLocks noGrp="1"/>
          </p:cNvSpPr>
          <p:nvPr>
            <p:ph idx="1"/>
          </p:nvPr>
        </p:nvSpPr>
        <p:spPr/>
        <p:txBody>
          <a:bodyPr/>
          <a:lstStyle/>
          <a:p>
            <a:r>
              <a:rPr lang="nl-NL" dirty="0"/>
              <a:t>The </a:t>
            </a:r>
            <a:r>
              <a:rPr lang="nl-NL" dirty="0" err="1"/>
              <a:t>warning</a:t>
            </a:r>
            <a:r>
              <a:rPr lang="nl-NL" dirty="0"/>
              <a:t> tag is </a:t>
            </a:r>
            <a:r>
              <a:rPr lang="nl-NL" dirty="0" err="1"/>
              <a:t>used</a:t>
            </a:r>
            <a:r>
              <a:rPr lang="nl-NL" dirty="0"/>
              <a:t> </a:t>
            </a:r>
            <a:r>
              <a:rPr lang="nl-NL" dirty="0" err="1"/>
              <a:t>for</a:t>
            </a:r>
            <a:r>
              <a:rPr lang="nl-NL" dirty="0"/>
              <a:t> tracks </a:t>
            </a:r>
            <a:r>
              <a:rPr lang="nl-NL" dirty="0" err="1"/>
              <a:t>which</a:t>
            </a:r>
            <a:r>
              <a:rPr lang="nl-NL" dirty="0"/>
              <a:t> are </a:t>
            </a:r>
            <a:r>
              <a:rPr lang="nl-NL" dirty="0" err="1"/>
              <a:t>for</a:t>
            </a:r>
            <a:r>
              <a:rPr lang="nl-NL" dirty="0"/>
              <a:t> </a:t>
            </a:r>
            <a:r>
              <a:rPr lang="nl-NL" dirty="0" err="1"/>
              <a:t>example</a:t>
            </a:r>
            <a:r>
              <a:rPr lang="nl-NL" dirty="0"/>
              <a:t> </a:t>
            </a:r>
            <a:r>
              <a:rPr lang="nl-NL" dirty="0" err="1"/>
              <a:t>really</a:t>
            </a:r>
            <a:r>
              <a:rPr lang="nl-NL" dirty="0"/>
              <a:t> short, or have </a:t>
            </a:r>
            <a:r>
              <a:rPr lang="nl-NL" dirty="0" err="1"/>
              <a:t>an</a:t>
            </a:r>
            <a:r>
              <a:rPr lang="nl-NL" dirty="0"/>
              <a:t> </a:t>
            </a:r>
            <a:r>
              <a:rPr lang="nl-NL" dirty="0" err="1"/>
              <a:t>unstable</a:t>
            </a:r>
            <a:r>
              <a:rPr lang="nl-NL" dirty="0"/>
              <a:t> beat </a:t>
            </a:r>
            <a:r>
              <a:rPr lang="nl-NL" dirty="0" err="1"/>
              <a:t>grid</a:t>
            </a:r>
            <a:endParaRPr lang="nl-NL" dirty="0"/>
          </a:p>
        </p:txBody>
      </p:sp>
    </p:spTree>
    <p:extLst>
      <p:ext uri="{BB962C8B-B14F-4D97-AF65-F5344CB8AC3E}">
        <p14:creationId xmlns:p14="http://schemas.microsoft.com/office/powerpoint/2010/main" val="257622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B1426-358F-EA60-6146-80DA7C600B7D}"/>
              </a:ext>
            </a:extLst>
          </p:cNvPr>
          <p:cNvSpPr>
            <a:spLocks noGrp="1"/>
          </p:cNvSpPr>
          <p:nvPr>
            <p:ph type="title"/>
          </p:nvPr>
        </p:nvSpPr>
        <p:spPr/>
        <p:txBody>
          <a:bodyPr/>
          <a:lstStyle/>
          <a:p>
            <a:r>
              <a:rPr lang="en-US" noProof="0" dirty="0"/>
              <a:t>Playlists</a:t>
            </a:r>
          </a:p>
        </p:txBody>
      </p:sp>
      <p:sp>
        <p:nvSpPr>
          <p:cNvPr id="3" name="Content Placeholder 2">
            <a:extLst>
              <a:ext uri="{FF2B5EF4-FFF2-40B4-BE49-F238E27FC236}">
                <a16:creationId xmlns:a16="http://schemas.microsoft.com/office/drawing/2014/main" id="{61E75DD1-A7DE-7655-76A0-0069470FA806}"/>
              </a:ext>
            </a:extLst>
          </p:cNvPr>
          <p:cNvSpPr>
            <a:spLocks noGrp="1"/>
          </p:cNvSpPr>
          <p:nvPr>
            <p:ph idx="1"/>
          </p:nvPr>
        </p:nvSpPr>
        <p:spPr/>
        <p:txBody>
          <a:bodyPr/>
          <a:lstStyle/>
          <a:p>
            <a:endParaRPr lang="en-US" noProof="0" dirty="0"/>
          </a:p>
        </p:txBody>
      </p:sp>
    </p:spTree>
    <p:extLst>
      <p:ext uri="{BB962C8B-B14F-4D97-AF65-F5344CB8AC3E}">
        <p14:creationId xmlns:p14="http://schemas.microsoft.com/office/powerpoint/2010/main" val="558230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E583C-3E6A-FDA8-4EFE-D751D4B2AFF2}"/>
              </a:ext>
            </a:extLst>
          </p:cNvPr>
          <p:cNvSpPr>
            <a:spLocks noGrp="1"/>
          </p:cNvSpPr>
          <p:nvPr>
            <p:ph type="title"/>
          </p:nvPr>
        </p:nvSpPr>
        <p:spPr/>
        <p:txBody>
          <a:bodyPr/>
          <a:lstStyle/>
          <a:p>
            <a:r>
              <a:rPr lang="nl-NL" dirty="0" err="1"/>
              <a:t>To</a:t>
            </a:r>
            <a:r>
              <a:rPr lang="nl-NL" dirty="0"/>
              <a:t> do</a:t>
            </a:r>
          </a:p>
        </p:txBody>
      </p:sp>
      <p:sp>
        <p:nvSpPr>
          <p:cNvPr id="3" name="Content Placeholder 2">
            <a:extLst>
              <a:ext uri="{FF2B5EF4-FFF2-40B4-BE49-F238E27FC236}">
                <a16:creationId xmlns:a16="http://schemas.microsoft.com/office/drawing/2014/main" id="{257BF030-C4F7-4B8C-383E-9F1BD333AAAD}"/>
              </a:ext>
            </a:extLst>
          </p:cNvPr>
          <p:cNvSpPr>
            <a:spLocks noGrp="1"/>
          </p:cNvSpPr>
          <p:nvPr>
            <p:ph idx="1"/>
          </p:nvPr>
        </p:nvSpPr>
        <p:spPr/>
        <p:txBody>
          <a:bodyPr/>
          <a:lstStyle/>
          <a:p>
            <a:r>
              <a:rPr lang="nl-NL" dirty="0"/>
              <a:t>Check energy levels on </a:t>
            </a:r>
            <a:r>
              <a:rPr lang="nl-NL" dirty="0" err="1"/>
              <a:t>allready</a:t>
            </a:r>
            <a:r>
              <a:rPr lang="nl-NL" dirty="0"/>
              <a:t> </a:t>
            </a:r>
            <a:r>
              <a:rPr lang="nl-NL" dirty="0" err="1"/>
              <a:t>tagged</a:t>
            </a:r>
            <a:r>
              <a:rPr lang="nl-NL" dirty="0"/>
              <a:t> tracks, is </a:t>
            </a:r>
            <a:r>
              <a:rPr lang="nl-NL" dirty="0" err="1"/>
              <a:t>the</a:t>
            </a:r>
            <a:r>
              <a:rPr lang="nl-NL" dirty="0"/>
              <a:t> new </a:t>
            </a:r>
            <a:r>
              <a:rPr lang="nl-NL" dirty="0" err="1"/>
              <a:t>labelling</a:t>
            </a:r>
            <a:r>
              <a:rPr lang="nl-NL" dirty="0"/>
              <a:t> </a:t>
            </a:r>
            <a:r>
              <a:rPr lang="nl-NL" dirty="0" err="1"/>
              <a:t>usefull</a:t>
            </a:r>
            <a:endParaRPr lang="nl-NL" dirty="0"/>
          </a:p>
          <a:p>
            <a:r>
              <a:rPr lang="nl-NL" dirty="0" err="1"/>
              <a:t>Come</a:t>
            </a:r>
            <a:r>
              <a:rPr lang="nl-NL" dirty="0"/>
              <a:t> up </a:t>
            </a:r>
            <a:r>
              <a:rPr lang="nl-NL" dirty="0" err="1"/>
              <a:t>with</a:t>
            </a:r>
            <a:r>
              <a:rPr lang="nl-NL" dirty="0"/>
              <a:t> a different word </a:t>
            </a:r>
            <a:r>
              <a:rPr lang="nl-NL" dirty="0" err="1"/>
              <a:t>for</a:t>
            </a:r>
            <a:r>
              <a:rPr lang="nl-NL" dirty="0"/>
              <a:t> adventure</a:t>
            </a:r>
          </a:p>
        </p:txBody>
      </p:sp>
    </p:spTree>
    <p:extLst>
      <p:ext uri="{BB962C8B-B14F-4D97-AF65-F5344CB8AC3E}">
        <p14:creationId xmlns:p14="http://schemas.microsoft.com/office/powerpoint/2010/main" val="2790795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F8937-E292-94F3-7F13-8329CCDF7A95}"/>
              </a:ext>
            </a:extLst>
          </p:cNvPr>
          <p:cNvSpPr>
            <a:spLocks noGrp="1"/>
          </p:cNvSpPr>
          <p:nvPr>
            <p:ph type="title"/>
          </p:nvPr>
        </p:nvSpPr>
        <p:spPr/>
        <p:txBody>
          <a:bodyPr/>
          <a:lstStyle/>
          <a:p>
            <a:r>
              <a:rPr lang="nl-NL" dirty="0" err="1"/>
              <a:t>Legacy</a:t>
            </a:r>
            <a:endParaRPr lang="nl-NL" dirty="0"/>
          </a:p>
        </p:txBody>
      </p:sp>
    </p:spTree>
    <p:extLst>
      <p:ext uri="{BB962C8B-B14F-4D97-AF65-F5344CB8AC3E}">
        <p14:creationId xmlns:p14="http://schemas.microsoft.com/office/powerpoint/2010/main" val="720829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26A4D-5062-F37A-B0A8-FA53841EDD79}"/>
              </a:ext>
            </a:extLst>
          </p:cNvPr>
          <p:cNvSpPr>
            <a:spLocks noGrp="1"/>
          </p:cNvSpPr>
          <p:nvPr>
            <p:ph type="title"/>
          </p:nvPr>
        </p:nvSpPr>
        <p:spPr/>
        <p:txBody>
          <a:bodyPr/>
          <a:lstStyle/>
          <a:p>
            <a:r>
              <a:rPr lang="en-US" noProof="0" dirty="0"/>
              <a:t>Thoughts on alternative tags</a:t>
            </a:r>
          </a:p>
        </p:txBody>
      </p:sp>
      <p:sp>
        <p:nvSpPr>
          <p:cNvPr id="3" name="Content Placeholder 2">
            <a:extLst>
              <a:ext uri="{FF2B5EF4-FFF2-40B4-BE49-F238E27FC236}">
                <a16:creationId xmlns:a16="http://schemas.microsoft.com/office/drawing/2014/main" id="{CB1AB9BC-7126-2586-19AB-C94E52F638E5}"/>
              </a:ext>
            </a:extLst>
          </p:cNvPr>
          <p:cNvSpPr>
            <a:spLocks noGrp="1"/>
          </p:cNvSpPr>
          <p:nvPr>
            <p:ph idx="1"/>
          </p:nvPr>
        </p:nvSpPr>
        <p:spPr/>
        <p:txBody>
          <a:bodyPr>
            <a:normAutofit fontScale="70000" lnSpcReduction="20000"/>
          </a:bodyPr>
          <a:lstStyle/>
          <a:p>
            <a:r>
              <a:rPr lang="en-US" noProof="0" dirty="0"/>
              <a:t>Spotify’s “danceability”</a:t>
            </a:r>
          </a:p>
          <a:p>
            <a:pPr lvl="1"/>
            <a:r>
              <a:rPr lang="en-US" noProof="0" dirty="0"/>
              <a:t>“How easy is it to dance in a predictable way?” </a:t>
            </a:r>
          </a:p>
          <a:p>
            <a:pPr lvl="1"/>
            <a:r>
              <a:rPr lang="en-US" noProof="0" dirty="0"/>
              <a:t>Focuses on rigid stability, groove consistency, how easy it is to dance to. Not super relevant in my way of </a:t>
            </a:r>
            <a:r>
              <a:rPr lang="en-US" noProof="0" dirty="0" err="1"/>
              <a:t>Djing</a:t>
            </a:r>
            <a:r>
              <a:rPr lang="en-US" noProof="0" dirty="0"/>
              <a:t>. I don’t want people to dance easily. I want people to be lost in music, and feel an urge to dance.</a:t>
            </a:r>
          </a:p>
          <a:p>
            <a:r>
              <a:rPr lang="en-US" noProof="0" dirty="0"/>
              <a:t>Musical intensity</a:t>
            </a:r>
          </a:p>
          <a:p>
            <a:pPr lvl="1"/>
            <a:r>
              <a:rPr lang="en-US" noProof="0" dirty="0"/>
              <a:t>“How sonically dramatic is this?” (ChatGPT)</a:t>
            </a:r>
          </a:p>
          <a:p>
            <a:pPr lvl="1"/>
            <a:r>
              <a:rPr lang="en-US" noProof="0" dirty="0"/>
              <a:t>For example Pan Sonic music might score high because it is noisy, and with a lot of bass, but it feels rather soothing. So in what sense is this then intense? Its intense if you look to objective criteria like noisiness and loudness, and spectral density. But there is not really any connection between these sonic qualities and subjective qualities in a meaningful way.</a:t>
            </a:r>
          </a:p>
          <a:p>
            <a:r>
              <a:rPr lang="en-US" noProof="0" dirty="0"/>
              <a:t>Emotion (angry-chill-happy)</a:t>
            </a:r>
          </a:p>
          <a:p>
            <a:pPr lvl="1"/>
            <a:r>
              <a:rPr lang="en-US" noProof="0" dirty="0"/>
              <a:t>Very subjective, will turn into a zoo soon, with many different other emotions: happy, euphoric, melancholic, aggressive, dark, paranoid, sad, playful, ironic</a:t>
            </a:r>
          </a:p>
          <a:p>
            <a:r>
              <a:rPr lang="en-US" noProof="0" dirty="0"/>
              <a:t>Rating (how much do I like the song)</a:t>
            </a:r>
          </a:p>
          <a:p>
            <a:pPr lvl="1"/>
            <a:r>
              <a:rPr lang="en-US" noProof="0" dirty="0"/>
              <a:t>Very subjective, can change over time, and with context. i.e. a song might be really boring which I might not like in general, but there might be a specific occasion for it. Better put such a song in a playlist called “very </a:t>
            </a:r>
            <a:r>
              <a:rPr lang="en-US" noProof="0" dirty="0" err="1"/>
              <a:t>monotome</a:t>
            </a:r>
            <a:r>
              <a:rPr lang="en-US" noProof="0" dirty="0"/>
              <a:t> but sounding fresh”, then giving it a low rating</a:t>
            </a:r>
          </a:p>
        </p:txBody>
      </p:sp>
    </p:spTree>
    <p:extLst>
      <p:ext uri="{BB962C8B-B14F-4D97-AF65-F5344CB8AC3E}">
        <p14:creationId xmlns:p14="http://schemas.microsoft.com/office/powerpoint/2010/main" val="3213708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A7C51-B97C-6187-C4C8-D9E5D4C85E07}"/>
              </a:ext>
            </a:extLst>
          </p:cNvPr>
          <p:cNvSpPr>
            <a:spLocks noGrp="1"/>
          </p:cNvSpPr>
          <p:nvPr>
            <p:ph type="title"/>
          </p:nvPr>
        </p:nvSpPr>
        <p:spPr/>
        <p:txBody>
          <a:bodyPr/>
          <a:lstStyle/>
          <a:p>
            <a:r>
              <a:rPr lang="en-US" noProof="0" dirty="0"/>
              <a:t>Questions</a:t>
            </a:r>
          </a:p>
        </p:txBody>
      </p:sp>
      <p:sp>
        <p:nvSpPr>
          <p:cNvPr id="3" name="Content Placeholder 2">
            <a:extLst>
              <a:ext uri="{FF2B5EF4-FFF2-40B4-BE49-F238E27FC236}">
                <a16:creationId xmlns:a16="http://schemas.microsoft.com/office/drawing/2014/main" id="{FBA80088-5BFD-D427-D1C1-E995066F8DBB}"/>
              </a:ext>
            </a:extLst>
          </p:cNvPr>
          <p:cNvSpPr>
            <a:spLocks noGrp="1"/>
          </p:cNvSpPr>
          <p:nvPr>
            <p:ph idx="1"/>
          </p:nvPr>
        </p:nvSpPr>
        <p:spPr/>
        <p:txBody>
          <a:bodyPr>
            <a:normAutofit lnSpcReduction="10000"/>
          </a:bodyPr>
          <a:lstStyle/>
          <a:p>
            <a:r>
              <a:rPr lang="en-US" sz="800" noProof="0" dirty="0"/>
              <a:t>I propose the following categories for “physical drive”: </a:t>
            </a:r>
          </a:p>
          <a:p>
            <a:pPr marL="914400" lvl="1" indent="-457200">
              <a:buFont typeface="+mj-lt"/>
              <a:buAutoNum type="arabicPeriod"/>
            </a:pPr>
            <a:r>
              <a:rPr lang="en-US" sz="700" noProof="0" dirty="0"/>
              <a:t>Just listening</a:t>
            </a:r>
          </a:p>
          <a:p>
            <a:pPr marL="914400" lvl="1" indent="-457200">
              <a:buFont typeface="+mj-lt"/>
              <a:buAutoNum type="arabicPeriod"/>
            </a:pPr>
            <a:r>
              <a:rPr lang="en-US" sz="700" noProof="0" dirty="0"/>
              <a:t>Minimal activation: head nodding, doing some movements but not feeling inclined to continue</a:t>
            </a:r>
          </a:p>
          <a:p>
            <a:pPr marL="914400" lvl="1" indent="-457200">
              <a:buFont typeface="+mj-lt"/>
              <a:buAutoNum type="arabicPeriod"/>
            </a:pPr>
            <a:r>
              <a:rPr lang="en-US" sz="700" noProof="0" dirty="0"/>
              <a:t>Casual moving: some people are dancing, others are talking</a:t>
            </a:r>
          </a:p>
          <a:p>
            <a:pPr marL="914400" lvl="1" indent="-457200">
              <a:buFont typeface="+mj-lt"/>
              <a:buAutoNum type="arabicPeriod"/>
            </a:pPr>
            <a:r>
              <a:rPr lang="en-US" sz="700" noProof="0" dirty="0"/>
              <a:t>Comfortable dancing: grooving, lock-in</a:t>
            </a:r>
          </a:p>
          <a:p>
            <a:pPr marL="914400" lvl="1" indent="-457200">
              <a:buFont typeface="+mj-lt"/>
              <a:buAutoNum type="arabicPeriod"/>
            </a:pPr>
            <a:r>
              <a:rPr lang="en-US" sz="700" noProof="0" dirty="0"/>
              <a:t>Urge: desire to really dance enthusiastically</a:t>
            </a:r>
          </a:p>
          <a:p>
            <a:pPr marL="914400" lvl="1" indent="-457200">
              <a:buFont typeface="+mj-lt"/>
              <a:buAutoNum type="arabicPeriod"/>
            </a:pPr>
            <a:r>
              <a:rPr lang="en-US" sz="700" noProof="0" dirty="0"/>
              <a:t>Strong drive: going all out</a:t>
            </a:r>
          </a:p>
          <a:p>
            <a:r>
              <a:rPr lang="en-US" sz="800" noProof="0" dirty="0"/>
              <a:t>For density I propose:</a:t>
            </a:r>
            <a:br>
              <a:rPr lang="en-US" sz="800" noProof="0" dirty="0"/>
            </a:br>
            <a:r>
              <a:rPr lang="en-US" sz="800" noProof="0" dirty="0"/>
              <a:t>	Sparse: separate elements of a track clearly audible, producer wants you to soke them in</a:t>
            </a:r>
            <a:br>
              <a:rPr lang="en-US" sz="800" noProof="0" dirty="0"/>
            </a:br>
            <a:r>
              <a:rPr lang="en-US" sz="800" noProof="0" dirty="0"/>
              <a:t>	Normal: you could possibly distinguish separate instruments, but it takes energy and is not really natural, track conceived as a whole</a:t>
            </a:r>
            <a:br>
              <a:rPr lang="en-US" sz="800" noProof="0" dirty="0"/>
            </a:br>
            <a:r>
              <a:rPr lang="en-US" sz="800" noProof="0" dirty="0"/>
              <a:t>	Dense: a lots of sounds together, can be overwhelming, sounds really full, you are definitely not going to separate out the different instruments as a casual listener</a:t>
            </a:r>
          </a:p>
          <a:p>
            <a:r>
              <a:rPr lang="en-US" sz="800" noProof="0" dirty="0"/>
              <a:t>For motion I propose:</a:t>
            </a:r>
          </a:p>
          <a:p>
            <a:pPr lvl="1"/>
            <a:r>
              <a:rPr lang="en-US" sz="700" noProof="0" dirty="0"/>
              <a:t>Start/opening</a:t>
            </a:r>
          </a:p>
          <a:p>
            <a:pPr lvl="1"/>
            <a:r>
              <a:rPr lang="en-US" sz="700" noProof="0" dirty="0"/>
              <a:t>Build</a:t>
            </a:r>
          </a:p>
          <a:p>
            <a:pPr lvl="1"/>
            <a:r>
              <a:rPr lang="en-US" sz="700" noProof="0" dirty="0"/>
              <a:t>Peak</a:t>
            </a:r>
          </a:p>
          <a:p>
            <a:pPr lvl="1"/>
            <a:r>
              <a:rPr lang="en-US" sz="700" noProof="0" dirty="0"/>
              <a:t>Sustain / rolling</a:t>
            </a:r>
          </a:p>
          <a:p>
            <a:pPr lvl="1"/>
            <a:r>
              <a:rPr lang="en-US" sz="700" noProof="0" dirty="0"/>
              <a:t>Release</a:t>
            </a:r>
          </a:p>
          <a:p>
            <a:pPr lvl="1"/>
            <a:r>
              <a:rPr lang="en-US" sz="700" noProof="0" dirty="0"/>
              <a:t>Chaos / roller coaster</a:t>
            </a:r>
          </a:p>
          <a:p>
            <a:pPr lvl="1"/>
            <a:r>
              <a:rPr lang="en-US" sz="700" noProof="0" dirty="0"/>
              <a:t>Waves and mountains (going up and down)</a:t>
            </a:r>
            <a:br>
              <a:rPr lang="en-US" sz="700" noProof="0" dirty="0"/>
            </a:br>
            <a:br>
              <a:rPr lang="en-US" sz="700" noProof="0" dirty="0"/>
            </a:br>
            <a:r>
              <a:rPr lang="en-US" sz="700" noProof="0" dirty="0"/>
              <a:t>Are there reliable external sources, i.e. some metadata or analysis or database, </a:t>
            </a:r>
            <a:r>
              <a:rPr lang="en-US" sz="700" noProof="0" dirty="0" err="1"/>
              <a:t>i</a:t>
            </a:r>
            <a:r>
              <a:rPr lang="en-US" sz="700" noProof="0" dirty="0"/>
              <a:t> might use to help assist me with filling in these tags? Is there any real speed advantage to it, if I will need to check whether or not it is tagged correctly song-by-song anyway?</a:t>
            </a:r>
          </a:p>
          <a:p>
            <a:r>
              <a:rPr lang="en-US" sz="800" noProof="0" dirty="0"/>
              <a:t>Are there ways in which we can define an axis for </a:t>
            </a:r>
            <a:r>
              <a:rPr lang="en-US" sz="800" noProof="0" dirty="0" err="1"/>
              <a:t>aggresion</a:t>
            </a:r>
            <a:r>
              <a:rPr lang="en-US" sz="800" noProof="0" dirty="0"/>
              <a:t> (soft -&gt; </a:t>
            </a:r>
            <a:r>
              <a:rPr lang="en-US" sz="800" noProof="0" dirty="0" err="1"/>
              <a:t>abbrasive</a:t>
            </a:r>
            <a:r>
              <a:rPr lang="en-US" sz="800" noProof="0" dirty="0"/>
              <a:t>) or emotional pressure (calm -&gt; dramatic), such that it makes sense in a DJ context and is well defined, and stable. </a:t>
            </a:r>
            <a:r>
              <a:rPr lang="en-US" sz="800" noProof="0" dirty="0" err="1"/>
              <a:t>Im</a:t>
            </a:r>
            <a:r>
              <a:rPr lang="en-US" sz="800" noProof="0" dirty="0"/>
              <a:t> also now thinking of “urgency” but that collapses with “motion” as for example a building track is definitely urgent. But there is also the degree to which the music demands the listener to listen, or just is more relax, and like, </a:t>
            </a:r>
            <a:r>
              <a:rPr lang="en-US" sz="800" noProof="0" dirty="0" err="1"/>
              <a:t>im</a:t>
            </a:r>
            <a:r>
              <a:rPr lang="en-US" sz="800" noProof="0" dirty="0"/>
              <a:t> just doing my thing, you just do your think. </a:t>
            </a:r>
            <a:r>
              <a:rPr lang="en-US" sz="800" noProof="0" dirty="0" err="1"/>
              <a:t>Im</a:t>
            </a:r>
            <a:r>
              <a:rPr lang="en-US" sz="800" noProof="0" dirty="0"/>
              <a:t> nor sure which word matches best with that axis. </a:t>
            </a:r>
            <a:r>
              <a:rPr lang="en-US" sz="800" noProof="0" dirty="0" err="1"/>
              <a:t>Im</a:t>
            </a:r>
            <a:r>
              <a:rPr lang="en-US" sz="800" noProof="0" dirty="0"/>
              <a:t> also </a:t>
            </a:r>
            <a:r>
              <a:rPr lang="en-US" sz="800" noProof="0" dirty="0" err="1"/>
              <a:t>kinda</a:t>
            </a:r>
            <a:r>
              <a:rPr lang="en-US" sz="800" noProof="0" dirty="0"/>
              <a:t> afraid this might shift over time and is subjective. Though in </a:t>
            </a:r>
            <a:r>
              <a:rPr lang="en-US" sz="800" noProof="0" dirty="0" err="1"/>
              <a:t>brode</a:t>
            </a:r>
            <a:r>
              <a:rPr lang="en-US" sz="800" noProof="0" dirty="0"/>
              <a:t> strokes its quite general, you could have the labels “mellow, relaxed, lush, </a:t>
            </a:r>
            <a:r>
              <a:rPr lang="en-US" sz="800" noProof="0" dirty="0" err="1"/>
              <a:t>dont</a:t>
            </a:r>
            <a:r>
              <a:rPr lang="en-US" sz="800" noProof="0" dirty="0"/>
              <a:t> mind me to much”, “normal, we are friends, I accompany you”, “I tell you what to do, and where to go, you better listen”. I collapses party with your idea of “How hard does this track grab the nervous system?”, which you mentioned under physical drive.</a:t>
            </a:r>
          </a:p>
          <a:p>
            <a:r>
              <a:rPr lang="en-US" sz="800" noProof="0" dirty="0"/>
              <a:t>So I see three things here, which more or less are entangled, and its important to take them apart. The “physical drive”, “the motion”, “ and the “lush vs forcing”. If consider for example a peak time track, driving track, typically that would have a high physical drive score, the motion would bedriving, and it would be quite forcing. So it appears that these axis then collide. How to take them apart?</a:t>
            </a:r>
          </a:p>
          <a:p>
            <a:r>
              <a:rPr lang="en-US" sz="800" noProof="0" dirty="0"/>
              <a:t>What to do with electronic tracks which have not a stable grid? Do I make a tag for that, or a playlist, or do I get rid of them entirely. Its important to not be surprised by this when playing, assuming that you do play with “sync”</a:t>
            </a:r>
          </a:p>
        </p:txBody>
      </p:sp>
    </p:spTree>
    <p:extLst>
      <p:ext uri="{BB962C8B-B14F-4D97-AF65-F5344CB8AC3E}">
        <p14:creationId xmlns:p14="http://schemas.microsoft.com/office/powerpoint/2010/main" val="1611285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8217F-B6C6-0891-F729-AAE564CB56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01014F-E3AA-6938-99D1-4A100F2C1868}"/>
              </a:ext>
            </a:extLst>
          </p:cNvPr>
          <p:cNvSpPr>
            <a:spLocks noGrp="1"/>
          </p:cNvSpPr>
          <p:nvPr>
            <p:ph type="title"/>
          </p:nvPr>
        </p:nvSpPr>
        <p:spPr/>
        <p:txBody>
          <a:bodyPr/>
          <a:lstStyle/>
          <a:p>
            <a:r>
              <a:rPr lang="en-US" noProof="0" dirty="0"/>
              <a:t>Physical drive: ChatGPT</a:t>
            </a:r>
          </a:p>
        </p:txBody>
      </p:sp>
      <p:sp>
        <p:nvSpPr>
          <p:cNvPr id="3" name="Content Placeholder 2">
            <a:extLst>
              <a:ext uri="{FF2B5EF4-FFF2-40B4-BE49-F238E27FC236}">
                <a16:creationId xmlns:a16="http://schemas.microsoft.com/office/drawing/2014/main" id="{82378FD0-D418-224F-0E08-CEFDF5BB333B}"/>
              </a:ext>
            </a:extLst>
          </p:cNvPr>
          <p:cNvSpPr>
            <a:spLocks noGrp="1"/>
          </p:cNvSpPr>
          <p:nvPr>
            <p:ph idx="1"/>
          </p:nvPr>
        </p:nvSpPr>
        <p:spPr/>
        <p:txBody>
          <a:bodyPr>
            <a:normAutofit fontScale="85000" lnSpcReduction="20000"/>
          </a:bodyPr>
          <a:lstStyle/>
          <a:p>
            <a:r>
              <a:rPr lang="en-US" noProof="0" dirty="0"/>
              <a:t>Labels</a:t>
            </a:r>
          </a:p>
          <a:p>
            <a:pPr marL="914400" lvl="1" indent="-457200">
              <a:buFont typeface="+mj-lt"/>
              <a:buAutoNum type="arabicPeriod"/>
            </a:pPr>
            <a:r>
              <a:rPr lang="en-US" noProof="0" dirty="0"/>
              <a:t>Minimal activation: head nodding, background groove, warm-up space, people can talk</a:t>
            </a:r>
          </a:p>
          <a:p>
            <a:pPr marL="914400" lvl="1" indent="-457200">
              <a:buFont typeface="+mj-lt"/>
              <a:buAutoNum type="arabicPeriod"/>
            </a:pPr>
            <a:r>
              <a:rPr lang="en-US" noProof="0" dirty="0"/>
              <a:t>Controlled movement: clear groove, full-body sway, comfortable dancing, not overwhelming</a:t>
            </a:r>
          </a:p>
          <a:p>
            <a:pPr marL="914400" lvl="1" indent="-457200">
              <a:buFont typeface="+mj-lt"/>
              <a:buAutoNum type="arabicPeriod"/>
            </a:pPr>
            <a:r>
              <a:rPr lang="en-US" noProof="0" dirty="0"/>
              <a:t>Strong drive: people commit to dancing, movement becomes dominant activity, conversation drops</a:t>
            </a:r>
          </a:p>
          <a:p>
            <a:pPr marL="914400" lvl="1" indent="-457200">
              <a:buFont typeface="+mj-lt"/>
              <a:buAutoNum type="arabicPeriod"/>
            </a:pPr>
            <a:r>
              <a:rPr lang="en-US" noProof="0" dirty="0"/>
              <a:t>High compulsion: strong bodily takeover, physical intensity, sweat level rising, hard to stand still</a:t>
            </a:r>
          </a:p>
          <a:p>
            <a:pPr marL="914400" lvl="1" indent="-457200">
              <a:buFont typeface="+mj-lt"/>
              <a:buAutoNum type="arabicPeriod"/>
            </a:pPr>
            <a:r>
              <a:rPr lang="en-US" noProof="0" dirty="0"/>
              <a:t>Overdrive / frenetic: Almost uncontrollable movement, chaotic, explosive, or punishing</a:t>
            </a:r>
          </a:p>
          <a:p>
            <a:r>
              <a:rPr lang="en-US" noProof="0" dirty="0"/>
              <a:t>Alternative names</a:t>
            </a:r>
          </a:p>
          <a:p>
            <a:pPr lvl="1"/>
            <a:r>
              <a:rPr lang="en-US" noProof="0" dirty="0"/>
              <a:t>Bodily urgency</a:t>
            </a:r>
          </a:p>
          <a:p>
            <a:pPr lvl="1"/>
            <a:r>
              <a:rPr lang="en-US" noProof="0" dirty="0"/>
              <a:t>Movement compulsion</a:t>
            </a:r>
          </a:p>
          <a:p>
            <a:pPr lvl="1"/>
            <a:r>
              <a:rPr lang="en-US" noProof="0" dirty="0"/>
              <a:t>Motor activation</a:t>
            </a:r>
          </a:p>
          <a:p>
            <a:pPr lvl="1"/>
            <a:endParaRPr lang="en-US" noProof="0" dirty="0"/>
          </a:p>
          <a:p>
            <a:pPr marL="914400" lvl="1" indent="-457200">
              <a:buFont typeface="+mj-lt"/>
              <a:buAutoNum type="arabicPeriod"/>
            </a:pPr>
            <a:endParaRPr lang="en-US" noProof="0" dirty="0"/>
          </a:p>
          <a:p>
            <a:pPr lvl="1"/>
            <a:endParaRPr lang="en-US" noProof="0" dirty="0"/>
          </a:p>
          <a:p>
            <a:endParaRPr lang="en-US" noProof="0" dirty="0"/>
          </a:p>
          <a:p>
            <a:pPr marL="457200" lvl="1" indent="0">
              <a:buNone/>
            </a:pPr>
            <a:endParaRPr lang="en-US" noProof="0" dirty="0"/>
          </a:p>
        </p:txBody>
      </p:sp>
    </p:spTree>
    <p:extLst>
      <p:ext uri="{BB962C8B-B14F-4D97-AF65-F5344CB8AC3E}">
        <p14:creationId xmlns:p14="http://schemas.microsoft.com/office/powerpoint/2010/main" val="2840661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06318-9C5C-1699-C415-FA210FD8614F}"/>
              </a:ext>
            </a:extLst>
          </p:cNvPr>
          <p:cNvSpPr>
            <a:spLocks noGrp="1"/>
          </p:cNvSpPr>
          <p:nvPr>
            <p:ph type="title"/>
          </p:nvPr>
        </p:nvSpPr>
        <p:spPr/>
        <p:txBody>
          <a:bodyPr/>
          <a:lstStyle/>
          <a:p>
            <a:r>
              <a:rPr lang="nl-NL" dirty="0"/>
              <a:t>Feature </a:t>
            </a:r>
            <a:r>
              <a:rPr lang="nl-NL" dirty="0" err="1"/>
              <a:t>requests</a:t>
            </a:r>
            <a:r>
              <a:rPr lang="nl-NL" dirty="0"/>
              <a:t> </a:t>
            </a:r>
            <a:r>
              <a:rPr lang="nl-NL" dirty="0" err="1"/>
              <a:t>for</a:t>
            </a:r>
            <a:r>
              <a:rPr lang="nl-NL" dirty="0"/>
              <a:t> </a:t>
            </a:r>
            <a:r>
              <a:rPr lang="nl-NL" dirty="0" err="1"/>
              <a:t>One</a:t>
            </a:r>
            <a:r>
              <a:rPr lang="nl-NL" dirty="0"/>
              <a:t> Tagger</a:t>
            </a:r>
          </a:p>
        </p:txBody>
      </p:sp>
      <p:sp>
        <p:nvSpPr>
          <p:cNvPr id="3" name="Content Placeholder 2">
            <a:extLst>
              <a:ext uri="{FF2B5EF4-FFF2-40B4-BE49-F238E27FC236}">
                <a16:creationId xmlns:a16="http://schemas.microsoft.com/office/drawing/2014/main" id="{89448B70-1F0B-1672-EBF3-C21F37DA7046}"/>
              </a:ext>
            </a:extLst>
          </p:cNvPr>
          <p:cNvSpPr>
            <a:spLocks noGrp="1"/>
          </p:cNvSpPr>
          <p:nvPr>
            <p:ph idx="1"/>
          </p:nvPr>
        </p:nvSpPr>
        <p:spPr/>
        <p:txBody>
          <a:bodyPr/>
          <a:lstStyle/>
          <a:p>
            <a:r>
              <a:rPr lang="nl-NL" dirty="0" err="1"/>
              <a:t>Allow</a:t>
            </a:r>
            <a:r>
              <a:rPr lang="nl-NL" dirty="0"/>
              <a:t> </a:t>
            </a:r>
            <a:r>
              <a:rPr lang="nl-NL" dirty="0" err="1"/>
              <a:t>for</a:t>
            </a:r>
            <a:r>
              <a:rPr lang="nl-NL" dirty="0"/>
              <a:t> a </a:t>
            </a:r>
            <a:r>
              <a:rPr lang="nl-NL" dirty="0" err="1"/>
              <a:t>playlist</a:t>
            </a:r>
            <a:r>
              <a:rPr lang="nl-NL" dirty="0"/>
              <a:t> view on </a:t>
            </a:r>
            <a:r>
              <a:rPr lang="nl-NL" dirty="0" err="1"/>
              <a:t>the</a:t>
            </a:r>
            <a:r>
              <a:rPr lang="nl-NL" dirty="0"/>
              <a:t> </a:t>
            </a:r>
            <a:r>
              <a:rPr lang="nl-NL" dirty="0" err="1"/>
              <a:t>left</a:t>
            </a:r>
            <a:endParaRPr lang="nl-NL" dirty="0"/>
          </a:p>
          <a:p>
            <a:r>
              <a:rPr lang="nl-NL" dirty="0" err="1"/>
              <a:t>Allow</a:t>
            </a:r>
            <a:r>
              <a:rPr lang="nl-NL" dirty="0"/>
              <a:t> </a:t>
            </a:r>
            <a:r>
              <a:rPr lang="nl-NL" dirty="0" err="1"/>
              <a:t>to</a:t>
            </a:r>
            <a:r>
              <a:rPr lang="nl-NL" dirty="0"/>
              <a:t> </a:t>
            </a:r>
            <a:r>
              <a:rPr lang="nl-NL" dirty="0" err="1"/>
              <a:t>choose</a:t>
            </a:r>
            <a:r>
              <a:rPr lang="nl-NL" dirty="0"/>
              <a:t> per tag </a:t>
            </a:r>
            <a:r>
              <a:rPr lang="nl-NL" dirty="0" err="1"/>
              <a:t>if</a:t>
            </a:r>
            <a:r>
              <a:rPr lang="nl-NL" dirty="0"/>
              <a:t> </a:t>
            </a:r>
            <a:r>
              <a:rPr lang="nl-NL" dirty="0" err="1"/>
              <a:t>it</a:t>
            </a:r>
            <a:r>
              <a:rPr lang="nl-NL" dirty="0"/>
              <a:t> </a:t>
            </a:r>
            <a:r>
              <a:rPr lang="nl-NL" dirty="0" err="1"/>
              <a:t>allows</a:t>
            </a:r>
            <a:r>
              <a:rPr lang="nl-NL" dirty="0"/>
              <a:t> </a:t>
            </a:r>
            <a:r>
              <a:rPr lang="nl-NL" dirty="0" err="1"/>
              <a:t>for</a:t>
            </a:r>
            <a:r>
              <a:rPr lang="nl-NL" dirty="0"/>
              <a:t> </a:t>
            </a:r>
            <a:r>
              <a:rPr lang="nl-NL" dirty="0" err="1"/>
              <a:t>only</a:t>
            </a:r>
            <a:r>
              <a:rPr lang="nl-NL" dirty="0"/>
              <a:t> </a:t>
            </a:r>
            <a:r>
              <a:rPr lang="nl-NL" dirty="0" err="1"/>
              <a:t>one</a:t>
            </a:r>
            <a:r>
              <a:rPr lang="nl-NL" dirty="0"/>
              <a:t> label, or </a:t>
            </a:r>
            <a:r>
              <a:rPr lang="nl-NL" dirty="0" err="1"/>
              <a:t>for</a:t>
            </a:r>
            <a:r>
              <a:rPr lang="nl-NL" dirty="0"/>
              <a:t> more</a:t>
            </a:r>
          </a:p>
          <a:p>
            <a:r>
              <a:rPr lang="nl-NL" dirty="0" err="1"/>
              <a:t>Allow</a:t>
            </a:r>
            <a:r>
              <a:rPr lang="nl-NL" dirty="0"/>
              <a:t> </a:t>
            </a:r>
            <a:r>
              <a:rPr lang="nl-NL" dirty="0" err="1"/>
              <a:t>for</a:t>
            </a:r>
            <a:r>
              <a:rPr lang="nl-NL" dirty="0"/>
              <a:t> </a:t>
            </a:r>
            <a:r>
              <a:rPr lang="nl-NL" dirty="0" err="1"/>
              <a:t>mapping</a:t>
            </a:r>
            <a:r>
              <a:rPr lang="nl-NL" dirty="0"/>
              <a:t> mouse buttons</a:t>
            </a:r>
          </a:p>
          <a:p>
            <a:r>
              <a:rPr lang="nl-NL" dirty="0" err="1"/>
              <a:t>Allow</a:t>
            </a:r>
            <a:r>
              <a:rPr lang="nl-NL" dirty="0"/>
              <a:t> </a:t>
            </a:r>
            <a:r>
              <a:rPr lang="nl-NL" dirty="0" err="1"/>
              <a:t>for</a:t>
            </a:r>
            <a:r>
              <a:rPr lang="nl-NL" dirty="0"/>
              <a:t> </a:t>
            </a:r>
            <a:r>
              <a:rPr lang="nl-NL" dirty="0" err="1"/>
              <a:t>shorter</a:t>
            </a:r>
            <a:r>
              <a:rPr lang="nl-NL" dirty="0"/>
              <a:t> </a:t>
            </a:r>
            <a:r>
              <a:rPr lang="nl-NL" dirty="0" err="1"/>
              <a:t>animations</a:t>
            </a:r>
            <a:endParaRPr lang="nl-NL" dirty="0"/>
          </a:p>
          <a:p>
            <a:r>
              <a:rPr lang="nl-NL" dirty="0" err="1"/>
              <a:t>Allow</a:t>
            </a:r>
            <a:r>
              <a:rPr lang="nl-NL" dirty="0"/>
              <a:t> </a:t>
            </a:r>
            <a:r>
              <a:rPr lang="nl-NL" dirty="0" err="1"/>
              <a:t>for</a:t>
            </a:r>
            <a:r>
              <a:rPr lang="nl-NL" dirty="0"/>
              <a:t> multiple </a:t>
            </a:r>
            <a:r>
              <a:rPr lang="nl-NL" dirty="0" err="1"/>
              <a:t>rows</a:t>
            </a:r>
            <a:r>
              <a:rPr lang="nl-NL" dirty="0"/>
              <a:t> of genre tags</a:t>
            </a:r>
          </a:p>
          <a:p>
            <a:r>
              <a:rPr lang="nl-NL" dirty="0" err="1"/>
              <a:t>Improve</a:t>
            </a:r>
            <a:r>
              <a:rPr lang="nl-NL" dirty="0"/>
              <a:t> playback speed (</a:t>
            </a:r>
            <a:r>
              <a:rPr lang="nl-NL" dirty="0" err="1"/>
              <a:t>remove</a:t>
            </a:r>
            <a:r>
              <a:rPr lang="nl-NL" dirty="0"/>
              <a:t> </a:t>
            </a:r>
            <a:r>
              <a:rPr lang="nl-NL" dirty="0" err="1"/>
              <a:t>loading</a:t>
            </a:r>
            <a:r>
              <a:rPr lang="nl-NL" dirty="0"/>
              <a:t> time, </a:t>
            </a:r>
            <a:r>
              <a:rPr lang="nl-NL" dirty="0" err="1"/>
              <a:t>and</a:t>
            </a:r>
            <a:r>
              <a:rPr lang="nl-NL" dirty="0"/>
              <a:t> </a:t>
            </a:r>
            <a:r>
              <a:rPr lang="nl-NL" dirty="0" err="1"/>
              <a:t>allow</a:t>
            </a:r>
            <a:r>
              <a:rPr lang="nl-NL" dirty="0"/>
              <a:t> </a:t>
            </a:r>
            <a:r>
              <a:rPr lang="nl-NL" dirty="0" err="1"/>
              <a:t>for</a:t>
            </a:r>
            <a:r>
              <a:rPr lang="nl-NL" dirty="0"/>
              <a:t> </a:t>
            </a:r>
            <a:r>
              <a:rPr lang="nl-NL" dirty="0" err="1"/>
              <a:t>faster</a:t>
            </a:r>
            <a:r>
              <a:rPr lang="nl-NL" dirty="0"/>
              <a:t> beatjumping)</a:t>
            </a:r>
          </a:p>
        </p:txBody>
      </p:sp>
    </p:spTree>
    <p:extLst>
      <p:ext uri="{BB962C8B-B14F-4D97-AF65-F5344CB8AC3E}">
        <p14:creationId xmlns:p14="http://schemas.microsoft.com/office/powerpoint/2010/main" val="2009731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49014-F66B-05D0-FE39-09BC54A7FE6A}"/>
              </a:ext>
            </a:extLst>
          </p:cNvPr>
          <p:cNvSpPr>
            <a:spLocks noGrp="1"/>
          </p:cNvSpPr>
          <p:nvPr>
            <p:ph type="title"/>
          </p:nvPr>
        </p:nvSpPr>
        <p:spPr/>
        <p:txBody>
          <a:bodyPr/>
          <a:lstStyle/>
          <a:p>
            <a:r>
              <a:rPr lang="nl-NL" dirty="0"/>
              <a:t>Tracks </a:t>
            </a:r>
            <a:r>
              <a:rPr lang="nl-NL" dirty="0" err="1"/>
              <a:t>to</a:t>
            </a:r>
            <a:r>
              <a:rPr lang="nl-NL" dirty="0"/>
              <a:t> test system</a:t>
            </a:r>
          </a:p>
        </p:txBody>
      </p:sp>
      <p:sp>
        <p:nvSpPr>
          <p:cNvPr id="5" name="TextBox 4">
            <a:extLst>
              <a:ext uri="{FF2B5EF4-FFF2-40B4-BE49-F238E27FC236}">
                <a16:creationId xmlns:a16="http://schemas.microsoft.com/office/drawing/2014/main" id="{8404EEC5-93F8-0940-277F-27CA3770AEB6}"/>
              </a:ext>
            </a:extLst>
          </p:cNvPr>
          <p:cNvSpPr txBox="1"/>
          <p:nvPr/>
        </p:nvSpPr>
        <p:spPr>
          <a:xfrm>
            <a:off x="6870988" y="1801813"/>
            <a:ext cx="6094268" cy="3416320"/>
          </a:xfrm>
          <a:prstGeom prst="rect">
            <a:avLst/>
          </a:prstGeom>
          <a:noFill/>
        </p:spPr>
        <p:txBody>
          <a:bodyPr wrap="square">
            <a:spAutoFit/>
          </a:bodyPr>
          <a:lstStyle/>
          <a:p>
            <a:pPr marL="285750" indent="-285750">
              <a:buFont typeface="Arial" panose="020B0604020202020204" pitchFamily="34" charset="0"/>
              <a:buChar char="•"/>
            </a:pPr>
            <a:r>
              <a:rPr lang="en-US" dirty="0"/>
              <a:t>Deep blue - face to face</a:t>
            </a:r>
          </a:p>
          <a:p>
            <a:pPr marL="285750" indent="-285750">
              <a:buFont typeface="Arial" panose="020B0604020202020204" pitchFamily="34" charset="0"/>
              <a:buChar char="•"/>
            </a:pPr>
            <a:r>
              <a:rPr lang="nl-NL" dirty="0"/>
              <a:t>F.U.S.E., </a:t>
            </a:r>
            <a:r>
              <a:rPr lang="nl-NL" dirty="0" err="1"/>
              <a:t>Richie</a:t>
            </a:r>
            <a:r>
              <a:rPr lang="nl-NL" dirty="0"/>
              <a:t> </a:t>
            </a:r>
            <a:r>
              <a:rPr lang="nl-NL" dirty="0" err="1"/>
              <a:t>Hawtin</a:t>
            </a:r>
            <a:r>
              <a:rPr lang="nl-NL" dirty="0"/>
              <a:t> - </a:t>
            </a:r>
            <a:r>
              <a:rPr lang="nl-NL" dirty="0" err="1"/>
              <a:t>dimension</a:t>
            </a:r>
            <a:r>
              <a:rPr lang="nl-NL" dirty="0"/>
              <a:t> </a:t>
            </a:r>
            <a:r>
              <a:rPr lang="nl-NL" dirty="0" err="1"/>
              <a:t>intrusion</a:t>
            </a:r>
            <a:endParaRPr lang="nl-NL" dirty="0"/>
          </a:p>
          <a:p>
            <a:pPr marL="285750" indent="-285750">
              <a:buFont typeface="Arial" panose="020B0604020202020204" pitchFamily="34" charset="0"/>
              <a:buChar char="•"/>
            </a:pPr>
            <a:r>
              <a:rPr lang="nl-NL" dirty="0"/>
              <a:t>DJ KRUSH – passage</a:t>
            </a:r>
          </a:p>
          <a:p>
            <a:pPr marL="285750" indent="-285750">
              <a:buFont typeface="Arial" panose="020B0604020202020204" pitchFamily="34" charset="0"/>
              <a:buChar char="•"/>
            </a:pPr>
            <a:r>
              <a:rPr lang="en-US" dirty="0"/>
              <a:t>infected mushroom - anyone else but me</a:t>
            </a:r>
          </a:p>
          <a:p>
            <a:pPr marL="285750" indent="-285750">
              <a:buFont typeface="Arial" panose="020B0604020202020204" pitchFamily="34" charset="0"/>
              <a:buChar char="•"/>
            </a:pPr>
            <a:r>
              <a:rPr lang="nl-NL" dirty="0" err="1"/>
              <a:t>death</a:t>
            </a:r>
            <a:r>
              <a:rPr lang="nl-NL" dirty="0"/>
              <a:t> </a:t>
            </a:r>
            <a:r>
              <a:rPr lang="nl-NL" dirty="0" err="1"/>
              <a:t>insurance</a:t>
            </a:r>
            <a:r>
              <a:rPr lang="nl-NL" dirty="0"/>
              <a:t> – </a:t>
            </a:r>
            <a:r>
              <a:rPr lang="nl-NL" dirty="0" err="1"/>
              <a:t>bugbite</a:t>
            </a:r>
            <a:endParaRPr lang="nl-NL" dirty="0"/>
          </a:p>
          <a:p>
            <a:pPr marL="285750" indent="-285750">
              <a:buFont typeface="Arial" panose="020B0604020202020204" pitchFamily="34" charset="0"/>
              <a:buChar char="•"/>
            </a:pPr>
            <a:r>
              <a:rPr lang="en-US" dirty="0" err="1"/>
              <a:t>aaron</a:t>
            </a:r>
            <a:r>
              <a:rPr lang="en-US" dirty="0"/>
              <a:t> </a:t>
            </a:r>
            <a:r>
              <a:rPr lang="en-US" dirty="0" err="1"/>
              <a:t>spectre</a:t>
            </a:r>
            <a:r>
              <a:rPr lang="en-US" dirty="0"/>
              <a:t> - create the future</a:t>
            </a:r>
          </a:p>
          <a:p>
            <a:pPr marL="285750" indent="-285750">
              <a:buFont typeface="Arial" panose="020B0604020202020204" pitchFamily="34" charset="0"/>
              <a:buChar char="•"/>
            </a:pPr>
            <a:r>
              <a:rPr lang="nl-NL" dirty="0"/>
              <a:t>California </a:t>
            </a:r>
            <a:r>
              <a:rPr lang="nl-NL" dirty="0" err="1"/>
              <a:t>sunshine</a:t>
            </a:r>
            <a:r>
              <a:rPr lang="nl-NL" dirty="0"/>
              <a:t> – </a:t>
            </a:r>
            <a:r>
              <a:rPr lang="nl-NL" dirty="0" err="1"/>
              <a:t>alala</a:t>
            </a:r>
            <a:endParaRPr lang="nl-NL" dirty="0"/>
          </a:p>
          <a:p>
            <a:pPr marL="285750" indent="-285750">
              <a:buFont typeface="Arial" panose="020B0604020202020204" pitchFamily="34" charset="0"/>
              <a:buChar char="•"/>
            </a:pPr>
            <a:r>
              <a:rPr lang="nl-NL" dirty="0" err="1"/>
              <a:t>drome</a:t>
            </a:r>
            <a:r>
              <a:rPr lang="nl-NL" dirty="0"/>
              <a:t> – break</a:t>
            </a:r>
          </a:p>
          <a:p>
            <a:pPr marL="285750" indent="-285750">
              <a:buFont typeface="Arial" panose="020B0604020202020204" pitchFamily="34" charset="0"/>
              <a:buChar char="•"/>
            </a:pPr>
            <a:r>
              <a:rPr lang="nl-NL" dirty="0" err="1"/>
              <a:t>djrum</a:t>
            </a:r>
            <a:r>
              <a:rPr lang="nl-NL" dirty="0"/>
              <a:t> - out of </a:t>
            </a:r>
            <a:r>
              <a:rPr lang="nl-NL" dirty="0" err="1"/>
              <a:t>dust</a:t>
            </a:r>
            <a:endParaRPr lang="nl-NL" dirty="0"/>
          </a:p>
          <a:p>
            <a:pPr marL="285750" indent="-285750">
              <a:buFont typeface="Arial" panose="020B0604020202020204" pitchFamily="34" charset="0"/>
              <a:buChar char="•"/>
            </a:pPr>
            <a:r>
              <a:rPr lang="nl-NL" dirty="0" err="1"/>
              <a:t>mani</a:t>
            </a:r>
            <a:r>
              <a:rPr lang="nl-NL" dirty="0"/>
              <a:t> </a:t>
            </a:r>
            <a:r>
              <a:rPr lang="nl-NL" dirty="0" err="1"/>
              <a:t>festo</a:t>
            </a:r>
            <a:r>
              <a:rPr lang="nl-NL" dirty="0"/>
              <a:t> – barricade</a:t>
            </a:r>
          </a:p>
          <a:p>
            <a:pPr marL="285750" indent="-285750">
              <a:buFont typeface="Arial" panose="020B0604020202020204" pitchFamily="34" charset="0"/>
              <a:buChar char="•"/>
            </a:pPr>
            <a:r>
              <a:rPr lang="en-US" dirty="0"/>
              <a:t>Proyecto mirage - came to know</a:t>
            </a:r>
          </a:p>
          <a:p>
            <a:pPr marL="285750" indent="-285750">
              <a:buFont typeface="Arial" panose="020B0604020202020204" pitchFamily="34" charset="0"/>
              <a:buChar char="•"/>
            </a:pPr>
            <a:r>
              <a:rPr lang="nl-NL" dirty="0"/>
              <a:t>squarepusher - beep </a:t>
            </a:r>
            <a:r>
              <a:rPr lang="nl-NL" dirty="0" err="1"/>
              <a:t>street</a:t>
            </a:r>
            <a:endParaRPr lang="nl-NL" dirty="0"/>
          </a:p>
        </p:txBody>
      </p:sp>
      <p:sp>
        <p:nvSpPr>
          <p:cNvPr id="7" name="TextBox 6">
            <a:extLst>
              <a:ext uri="{FF2B5EF4-FFF2-40B4-BE49-F238E27FC236}">
                <a16:creationId xmlns:a16="http://schemas.microsoft.com/office/drawing/2014/main" id="{FDA43444-F46F-8140-A1DC-18FA1FC77D3F}"/>
              </a:ext>
            </a:extLst>
          </p:cNvPr>
          <p:cNvSpPr txBox="1"/>
          <p:nvPr/>
        </p:nvSpPr>
        <p:spPr>
          <a:xfrm>
            <a:off x="935183" y="1801813"/>
            <a:ext cx="6483926" cy="3416320"/>
          </a:xfrm>
          <a:prstGeom prst="rect">
            <a:avLst/>
          </a:prstGeom>
          <a:noFill/>
        </p:spPr>
        <p:txBody>
          <a:bodyPr wrap="square">
            <a:spAutoFit/>
          </a:bodyPr>
          <a:lstStyle/>
          <a:p>
            <a:pPr marL="285750" indent="-285750">
              <a:buFont typeface="Arial" panose="020B0604020202020204" pitchFamily="34" charset="0"/>
              <a:buChar char="•"/>
            </a:pPr>
            <a:r>
              <a:rPr lang="nl-NL" sz="1800" dirty="0"/>
              <a:t>DJ overdose - comfort killer</a:t>
            </a:r>
          </a:p>
          <a:p>
            <a:pPr marL="285750" indent="-285750">
              <a:buFont typeface="Arial" panose="020B0604020202020204" pitchFamily="34" charset="0"/>
              <a:buChar char="•"/>
            </a:pPr>
            <a:r>
              <a:rPr lang="nl-NL" sz="1800" dirty="0"/>
              <a:t>logo – </a:t>
            </a:r>
            <a:r>
              <a:rPr lang="nl-NL" sz="1800" dirty="0" err="1"/>
              <a:t>businessmen</a:t>
            </a:r>
            <a:endParaRPr lang="nl-NL" sz="1800" dirty="0"/>
          </a:p>
          <a:p>
            <a:pPr marL="285750" indent="-285750">
              <a:buFont typeface="Arial" panose="020B0604020202020204" pitchFamily="34" charset="0"/>
              <a:buChar char="•"/>
            </a:pPr>
            <a:r>
              <a:rPr lang="nl-NL" sz="1800" dirty="0" err="1"/>
              <a:t>bjorn</a:t>
            </a:r>
            <a:r>
              <a:rPr lang="nl-NL" sz="1800" dirty="0"/>
              <a:t> </a:t>
            </a:r>
            <a:r>
              <a:rPr lang="nl-NL" sz="1800" dirty="0" err="1"/>
              <a:t>torske</a:t>
            </a:r>
            <a:r>
              <a:rPr lang="nl-NL" sz="1800" dirty="0"/>
              <a:t> - clean air</a:t>
            </a:r>
          </a:p>
          <a:p>
            <a:pPr marL="285750" indent="-285750">
              <a:buFont typeface="Arial" panose="020B0604020202020204" pitchFamily="34" charset="0"/>
              <a:buChar char="•"/>
            </a:pPr>
            <a:r>
              <a:rPr lang="en-US" sz="1800" dirty="0"/>
              <a:t>the robotics - chanting down the wicked</a:t>
            </a:r>
          </a:p>
          <a:p>
            <a:pPr marL="285750" indent="-285750">
              <a:buFont typeface="Arial" panose="020B0604020202020204" pitchFamily="34" charset="0"/>
              <a:buChar char="•"/>
            </a:pPr>
            <a:r>
              <a:rPr lang="nl-NL" sz="1800" dirty="0" err="1"/>
              <a:t>astarius</a:t>
            </a:r>
            <a:r>
              <a:rPr lang="nl-NL" sz="1800" dirty="0"/>
              <a:t>  - </a:t>
            </a:r>
            <a:r>
              <a:rPr lang="nl-NL" sz="1800" dirty="0" err="1"/>
              <a:t>Didgeriduke</a:t>
            </a:r>
            <a:endParaRPr lang="nl-NL" sz="1800" dirty="0"/>
          </a:p>
          <a:p>
            <a:pPr marL="285750" indent="-285750">
              <a:buFont typeface="Arial" panose="020B0604020202020204" pitchFamily="34" charset="0"/>
              <a:buChar char="•"/>
            </a:pPr>
            <a:r>
              <a:rPr lang="en-US" sz="1800" dirty="0"/>
              <a:t>tipper - big question small head</a:t>
            </a:r>
          </a:p>
          <a:p>
            <a:pPr marL="285750" indent="-285750">
              <a:buFont typeface="Arial" panose="020B0604020202020204" pitchFamily="34" charset="0"/>
              <a:buChar char="•"/>
            </a:pPr>
            <a:r>
              <a:rPr lang="nl-NL" sz="1800" dirty="0" err="1"/>
              <a:t>barber</a:t>
            </a:r>
            <a:r>
              <a:rPr lang="nl-NL" sz="1800" dirty="0"/>
              <a:t>, manifest </a:t>
            </a:r>
            <a:r>
              <a:rPr lang="nl-NL" sz="1800" dirty="0" err="1"/>
              <a:t>destiny</a:t>
            </a:r>
            <a:r>
              <a:rPr lang="nl-NL" sz="1800" dirty="0"/>
              <a:t> - light green</a:t>
            </a:r>
          </a:p>
          <a:p>
            <a:pPr marL="285750" indent="-285750">
              <a:buFont typeface="Arial" panose="020B0604020202020204" pitchFamily="34" charset="0"/>
              <a:buChar char="•"/>
            </a:pPr>
            <a:r>
              <a:rPr lang="en-US" sz="1800" dirty="0" err="1"/>
              <a:t>alison</a:t>
            </a:r>
            <a:r>
              <a:rPr lang="en-US" sz="1800" dirty="0"/>
              <a:t> </a:t>
            </a:r>
            <a:r>
              <a:rPr lang="en-US" sz="1800" dirty="0" err="1"/>
              <a:t>imerick</a:t>
            </a:r>
            <a:r>
              <a:rPr lang="en-US" sz="1800" dirty="0"/>
              <a:t>, </a:t>
            </a:r>
            <a:r>
              <a:rPr lang="en-US" sz="1800" dirty="0" err="1"/>
              <a:t>paul</a:t>
            </a:r>
            <a:r>
              <a:rPr lang="en-US" sz="1800" dirty="0"/>
              <a:t> </a:t>
            </a:r>
            <a:r>
              <a:rPr lang="en-US" sz="1800" dirty="0" err="1"/>
              <a:t>oakenfold</a:t>
            </a:r>
            <a:r>
              <a:rPr lang="en-US" sz="1800" dirty="0"/>
              <a:t> - come back</a:t>
            </a:r>
          </a:p>
          <a:p>
            <a:pPr marL="285750" indent="-285750">
              <a:buFont typeface="Arial" panose="020B0604020202020204" pitchFamily="34" charset="0"/>
              <a:buChar char="•"/>
            </a:pPr>
            <a:r>
              <a:rPr lang="nl-NL" sz="1800" dirty="0" err="1"/>
              <a:t>dave</a:t>
            </a:r>
            <a:r>
              <a:rPr lang="nl-NL" sz="1800" dirty="0"/>
              <a:t> angel - </a:t>
            </a:r>
            <a:r>
              <a:rPr lang="nl-NL" sz="1800" dirty="0" err="1"/>
              <a:t>bounce</a:t>
            </a:r>
            <a:r>
              <a:rPr lang="nl-NL" sz="1800" dirty="0"/>
              <a:t> back</a:t>
            </a:r>
          </a:p>
          <a:p>
            <a:pPr marL="285750" indent="-285750">
              <a:buFont typeface="Arial" panose="020B0604020202020204" pitchFamily="34" charset="0"/>
              <a:buChar char="•"/>
            </a:pPr>
            <a:r>
              <a:rPr lang="nl-NL" sz="1800" dirty="0" err="1"/>
              <a:t>geck</a:t>
            </a:r>
            <a:r>
              <a:rPr lang="nl-NL" sz="1800" dirty="0"/>
              <a:t>-o  - </a:t>
            </a:r>
            <a:r>
              <a:rPr lang="nl-NL" sz="1800" dirty="0" err="1"/>
              <a:t>childs</a:t>
            </a:r>
            <a:r>
              <a:rPr lang="nl-NL" sz="1800" dirty="0"/>
              <a:t> </a:t>
            </a:r>
            <a:r>
              <a:rPr lang="nl-NL" sz="1800" dirty="0" err="1"/>
              <a:t>play</a:t>
            </a:r>
            <a:endParaRPr lang="nl-NL" sz="1800" dirty="0"/>
          </a:p>
          <a:p>
            <a:pPr marL="285750" indent="-285750">
              <a:buFont typeface="Arial" panose="020B0604020202020204" pitchFamily="34" charset="0"/>
              <a:buChar char="•"/>
            </a:pPr>
            <a:r>
              <a:rPr lang="en-US" sz="1800" dirty="0"/>
              <a:t>black devel disco club - constantly no respect</a:t>
            </a:r>
          </a:p>
          <a:p>
            <a:pPr marL="285750" indent="-285750">
              <a:buFont typeface="Arial" panose="020B0604020202020204" pitchFamily="34" charset="0"/>
              <a:buChar char="•"/>
            </a:pPr>
            <a:r>
              <a:rPr lang="nl-NL" sz="1800" dirty="0" err="1"/>
              <a:t>Gopnik</a:t>
            </a:r>
            <a:r>
              <a:rPr lang="nl-NL" sz="1800" dirty="0"/>
              <a:t> </a:t>
            </a:r>
            <a:r>
              <a:rPr lang="nl-NL" sz="1800" dirty="0" err="1"/>
              <a:t>McBlyat</a:t>
            </a:r>
            <a:r>
              <a:rPr lang="nl-NL" sz="1800" dirty="0"/>
              <a:t> - </a:t>
            </a:r>
            <a:r>
              <a:rPr lang="nl-NL" sz="1800" dirty="0" err="1"/>
              <a:t>cheeki</a:t>
            </a:r>
            <a:r>
              <a:rPr lang="nl-NL" sz="1800" dirty="0"/>
              <a:t> </a:t>
            </a:r>
            <a:r>
              <a:rPr lang="nl-NL" sz="1800" dirty="0" err="1"/>
              <a:t>breeki</a:t>
            </a:r>
            <a:r>
              <a:rPr lang="nl-NL" sz="1800" dirty="0"/>
              <a:t> </a:t>
            </a:r>
            <a:r>
              <a:rPr lang="nl-NL" sz="1800" dirty="0" err="1"/>
              <a:t>revolt</a:t>
            </a:r>
            <a:endParaRPr lang="nl-NL" sz="1800" dirty="0"/>
          </a:p>
        </p:txBody>
      </p:sp>
    </p:spTree>
    <p:extLst>
      <p:ext uri="{BB962C8B-B14F-4D97-AF65-F5344CB8AC3E}">
        <p14:creationId xmlns:p14="http://schemas.microsoft.com/office/powerpoint/2010/main" val="2477127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4DCDF-638A-3508-7AE1-33F300ABA5B5}"/>
              </a:ext>
            </a:extLst>
          </p:cNvPr>
          <p:cNvSpPr>
            <a:spLocks noGrp="1"/>
          </p:cNvSpPr>
          <p:nvPr>
            <p:ph type="title"/>
          </p:nvPr>
        </p:nvSpPr>
        <p:spPr/>
        <p:txBody>
          <a:bodyPr/>
          <a:lstStyle/>
          <a:p>
            <a:r>
              <a:rPr lang="nl-NL" dirty="0" err="1"/>
              <a:t>Piers</a:t>
            </a:r>
            <a:r>
              <a:rPr lang="nl-NL" dirty="0"/>
              <a:t> </a:t>
            </a:r>
            <a:r>
              <a:rPr lang="nl-NL" dirty="0" err="1"/>
              <a:t>tagging</a:t>
            </a:r>
            <a:r>
              <a:rPr lang="nl-NL" dirty="0"/>
              <a:t> </a:t>
            </a:r>
            <a:r>
              <a:rPr lang="nl-NL" dirty="0" err="1"/>
              <a:t>results</a:t>
            </a:r>
            <a:r>
              <a:rPr lang="nl-NL" dirty="0"/>
              <a:t> 23-02-2026</a:t>
            </a:r>
          </a:p>
        </p:txBody>
      </p:sp>
      <p:sp>
        <p:nvSpPr>
          <p:cNvPr id="3" name="Content Placeholder 2">
            <a:extLst>
              <a:ext uri="{FF2B5EF4-FFF2-40B4-BE49-F238E27FC236}">
                <a16:creationId xmlns:a16="http://schemas.microsoft.com/office/drawing/2014/main" id="{12926F29-CABC-FFAE-EF51-398F2BD219B6}"/>
              </a:ext>
            </a:extLst>
          </p:cNvPr>
          <p:cNvSpPr>
            <a:spLocks noGrp="1"/>
          </p:cNvSpPr>
          <p:nvPr>
            <p:ph idx="1"/>
          </p:nvPr>
        </p:nvSpPr>
        <p:spPr/>
        <p:txBody>
          <a:bodyPr>
            <a:normAutofit fontScale="25000" lnSpcReduction="20000"/>
          </a:bodyPr>
          <a:lstStyle/>
          <a:p>
            <a:r>
              <a:rPr lang="en-US" dirty="0"/>
              <a:t>DJ overdose - comfort killer</a:t>
            </a:r>
          </a:p>
          <a:p>
            <a:endParaRPr lang="en-US" dirty="0"/>
          </a:p>
          <a:p>
            <a:r>
              <a:rPr lang="en-US" dirty="0"/>
              <a:t>cleanliness: integrated</a:t>
            </a:r>
          </a:p>
          <a:p>
            <a:r>
              <a:rPr lang="en-US" dirty="0"/>
              <a:t>fullness: full</a:t>
            </a:r>
          </a:p>
          <a:p>
            <a:r>
              <a:rPr lang="en-US" dirty="0"/>
              <a:t>direction: irregular</a:t>
            </a:r>
          </a:p>
          <a:p>
            <a:r>
              <a:rPr lang="en-US" dirty="0"/>
              <a:t>physical drive: grooving</a:t>
            </a:r>
          </a:p>
          <a:p>
            <a:r>
              <a:rPr lang="en-US" dirty="0"/>
              <a:t>authority: demanding</a:t>
            </a:r>
          </a:p>
          <a:p>
            <a:endParaRPr lang="en-US" dirty="0"/>
          </a:p>
          <a:p>
            <a:r>
              <a:rPr lang="en-US" dirty="0"/>
              <a:t>logo - businessmen</a:t>
            </a:r>
          </a:p>
          <a:p>
            <a:endParaRPr lang="en-US" dirty="0"/>
          </a:p>
          <a:p>
            <a:r>
              <a:rPr lang="en-US" dirty="0"/>
              <a:t>cleanliness: integrated</a:t>
            </a:r>
          </a:p>
          <a:p>
            <a:r>
              <a:rPr lang="en-US" dirty="0"/>
              <a:t>fullness:  cozy</a:t>
            </a:r>
          </a:p>
          <a:p>
            <a:r>
              <a:rPr lang="en-US" dirty="0"/>
              <a:t>direction: stable</a:t>
            </a:r>
          </a:p>
          <a:p>
            <a:r>
              <a:rPr lang="en-US" dirty="0"/>
              <a:t>physical drive: grooving</a:t>
            </a:r>
          </a:p>
          <a:p>
            <a:r>
              <a:rPr lang="en-US" dirty="0"/>
              <a:t>authority: slight pressure</a:t>
            </a:r>
          </a:p>
          <a:p>
            <a:endParaRPr lang="en-US" dirty="0"/>
          </a:p>
          <a:p>
            <a:r>
              <a:rPr lang="en-US" dirty="0" err="1"/>
              <a:t>bjorn</a:t>
            </a:r>
            <a:r>
              <a:rPr lang="en-US" dirty="0"/>
              <a:t> </a:t>
            </a:r>
            <a:r>
              <a:rPr lang="en-US" dirty="0" err="1"/>
              <a:t>torske</a:t>
            </a:r>
            <a:r>
              <a:rPr lang="en-US" dirty="0"/>
              <a:t> - clean air</a:t>
            </a:r>
          </a:p>
          <a:p>
            <a:endParaRPr lang="en-US" dirty="0"/>
          </a:p>
          <a:p>
            <a:r>
              <a:rPr lang="en-US" dirty="0"/>
              <a:t>cleanliness: clean</a:t>
            </a:r>
          </a:p>
          <a:p>
            <a:r>
              <a:rPr lang="en-US" dirty="0"/>
              <a:t>fullness:  cozy</a:t>
            </a:r>
          </a:p>
          <a:p>
            <a:r>
              <a:rPr lang="en-US" dirty="0"/>
              <a:t>direction: stable</a:t>
            </a:r>
          </a:p>
          <a:p>
            <a:r>
              <a:rPr lang="en-US" dirty="0"/>
              <a:t>physical drive: grooving</a:t>
            </a:r>
          </a:p>
          <a:p>
            <a:r>
              <a:rPr lang="en-US" dirty="0"/>
              <a:t>authority: slight pressure</a:t>
            </a:r>
          </a:p>
          <a:p>
            <a:endParaRPr lang="en-US" dirty="0"/>
          </a:p>
          <a:p>
            <a:r>
              <a:rPr lang="en-US" dirty="0"/>
              <a:t>the robotics - chanting down the wicked</a:t>
            </a:r>
          </a:p>
          <a:p>
            <a:endParaRPr lang="en-US" dirty="0"/>
          </a:p>
          <a:p>
            <a:r>
              <a:rPr lang="en-US" dirty="0"/>
              <a:t>cleanliness: integrated</a:t>
            </a:r>
          </a:p>
          <a:p>
            <a:r>
              <a:rPr lang="en-US" dirty="0"/>
              <a:t>fullness:  spacious</a:t>
            </a:r>
          </a:p>
          <a:p>
            <a:r>
              <a:rPr lang="en-US" dirty="0"/>
              <a:t>direction: stable</a:t>
            </a:r>
          </a:p>
          <a:p>
            <a:r>
              <a:rPr lang="en-US" dirty="0"/>
              <a:t>physical drive: swaying</a:t>
            </a:r>
          </a:p>
          <a:p>
            <a:r>
              <a:rPr lang="en-US" dirty="0"/>
              <a:t>authority: slight pressure</a:t>
            </a:r>
          </a:p>
          <a:p>
            <a:endParaRPr lang="en-US" dirty="0"/>
          </a:p>
          <a:p>
            <a:r>
              <a:rPr lang="en-US" dirty="0" err="1"/>
              <a:t>astarius</a:t>
            </a:r>
            <a:r>
              <a:rPr lang="en-US" dirty="0"/>
              <a:t>  - </a:t>
            </a:r>
            <a:r>
              <a:rPr lang="en-US" dirty="0" err="1"/>
              <a:t>Didgeriduke</a:t>
            </a:r>
            <a:endParaRPr lang="en-US" dirty="0"/>
          </a:p>
          <a:p>
            <a:endParaRPr lang="en-US" dirty="0"/>
          </a:p>
          <a:p>
            <a:r>
              <a:rPr lang="en-US" dirty="0"/>
              <a:t>cleanliness: integrated</a:t>
            </a:r>
          </a:p>
          <a:p>
            <a:r>
              <a:rPr lang="en-US" dirty="0"/>
              <a:t>fullness:  cozy</a:t>
            </a:r>
          </a:p>
          <a:p>
            <a:r>
              <a:rPr lang="en-US" dirty="0"/>
              <a:t>direction: hill</a:t>
            </a:r>
          </a:p>
          <a:p>
            <a:r>
              <a:rPr lang="en-US" dirty="0"/>
              <a:t>physical drive: listening</a:t>
            </a:r>
          </a:p>
          <a:p>
            <a:r>
              <a:rPr lang="en-US" dirty="0"/>
              <a:t>authority: slight pressure</a:t>
            </a:r>
          </a:p>
          <a:p>
            <a:endParaRPr lang="en-US" dirty="0"/>
          </a:p>
          <a:p>
            <a:r>
              <a:rPr lang="en-US" dirty="0"/>
              <a:t>tipper - big question small head</a:t>
            </a:r>
          </a:p>
          <a:p>
            <a:endParaRPr lang="en-US" dirty="0"/>
          </a:p>
          <a:p>
            <a:r>
              <a:rPr lang="en-US" dirty="0"/>
              <a:t>cleanliness: clean</a:t>
            </a:r>
          </a:p>
          <a:p>
            <a:r>
              <a:rPr lang="en-US" dirty="0"/>
              <a:t>fullness: full</a:t>
            </a:r>
          </a:p>
          <a:p>
            <a:r>
              <a:rPr lang="en-US" dirty="0"/>
              <a:t>direction: irregular</a:t>
            </a:r>
          </a:p>
          <a:p>
            <a:r>
              <a:rPr lang="en-US" dirty="0"/>
              <a:t>physical drive: grooving</a:t>
            </a:r>
          </a:p>
          <a:p>
            <a:r>
              <a:rPr lang="en-US" dirty="0"/>
              <a:t>authority: lush</a:t>
            </a:r>
          </a:p>
          <a:p>
            <a:endParaRPr lang="en-US" dirty="0"/>
          </a:p>
          <a:p>
            <a:r>
              <a:rPr lang="en-US" dirty="0"/>
              <a:t>barber, manifest destiny - light green</a:t>
            </a:r>
          </a:p>
          <a:p>
            <a:endParaRPr lang="en-US" dirty="0"/>
          </a:p>
          <a:p>
            <a:r>
              <a:rPr lang="en-US" dirty="0"/>
              <a:t>cleanliness: clean </a:t>
            </a:r>
          </a:p>
          <a:p>
            <a:r>
              <a:rPr lang="en-US" dirty="0"/>
              <a:t>fullness:  full</a:t>
            </a:r>
          </a:p>
          <a:p>
            <a:r>
              <a:rPr lang="en-US" dirty="0"/>
              <a:t>direction: waves and peaks</a:t>
            </a:r>
          </a:p>
          <a:p>
            <a:r>
              <a:rPr lang="en-US" dirty="0"/>
              <a:t>physical drive: losing it</a:t>
            </a:r>
          </a:p>
          <a:p>
            <a:r>
              <a:rPr lang="en-US" dirty="0"/>
              <a:t>authority: lush</a:t>
            </a:r>
          </a:p>
          <a:p>
            <a:endParaRPr lang="en-US" dirty="0"/>
          </a:p>
          <a:p>
            <a:r>
              <a:rPr lang="en-US" dirty="0" err="1"/>
              <a:t>alison</a:t>
            </a:r>
            <a:r>
              <a:rPr lang="en-US" dirty="0"/>
              <a:t> </a:t>
            </a:r>
            <a:r>
              <a:rPr lang="en-US" dirty="0" err="1"/>
              <a:t>imerick</a:t>
            </a:r>
            <a:r>
              <a:rPr lang="en-US" dirty="0"/>
              <a:t>, </a:t>
            </a:r>
            <a:r>
              <a:rPr lang="en-US" dirty="0" err="1"/>
              <a:t>paul</a:t>
            </a:r>
            <a:r>
              <a:rPr lang="en-US" dirty="0"/>
              <a:t> </a:t>
            </a:r>
            <a:r>
              <a:rPr lang="en-US" dirty="0" err="1"/>
              <a:t>oakenfold</a:t>
            </a:r>
            <a:r>
              <a:rPr lang="en-US" dirty="0"/>
              <a:t> - come back</a:t>
            </a:r>
          </a:p>
          <a:p>
            <a:endParaRPr lang="en-US" dirty="0"/>
          </a:p>
          <a:p>
            <a:r>
              <a:rPr lang="en-US" dirty="0"/>
              <a:t>cleanliness: integrated</a:t>
            </a:r>
          </a:p>
          <a:p>
            <a:r>
              <a:rPr lang="en-US" dirty="0"/>
              <a:t>fullness:  cozy</a:t>
            </a:r>
          </a:p>
          <a:p>
            <a:r>
              <a:rPr lang="en-US" dirty="0"/>
              <a:t>direction: stable</a:t>
            </a:r>
          </a:p>
          <a:p>
            <a:r>
              <a:rPr lang="en-US" dirty="0"/>
              <a:t>physical drive: grooving</a:t>
            </a:r>
          </a:p>
          <a:p>
            <a:r>
              <a:rPr lang="en-US" dirty="0"/>
              <a:t>authority: lush</a:t>
            </a:r>
          </a:p>
          <a:p>
            <a:endParaRPr lang="en-US" dirty="0"/>
          </a:p>
          <a:p>
            <a:r>
              <a:rPr lang="en-US" dirty="0" err="1"/>
              <a:t>dave</a:t>
            </a:r>
            <a:r>
              <a:rPr lang="en-US" dirty="0"/>
              <a:t> angel - bounce back</a:t>
            </a:r>
          </a:p>
          <a:p>
            <a:endParaRPr lang="en-US" dirty="0"/>
          </a:p>
          <a:p>
            <a:r>
              <a:rPr lang="en-US" dirty="0"/>
              <a:t>cleanliness: integrated</a:t>
            </a:r>
          </a:p>
          <a:p>
            <a:r>
              <a:rPr lang="en-US" dirty="0"/>
              <a:t>fullness:  a tad empty</a:t>
            </a:r>
          </a:p>
          <a:p>
            <a:r>
              <a:rPr lang="en-US" dirty="0"/>
              <a:t>direction: forward</a:t>
            </a:r>
          </a:p>
          <a:p>
            <a:r>
              <a:rPr lang="en-US" dirty="0"/>
              <a:t>physical drive: grooving</a:t>
            </a:r>
          </a:p>
          <a:p>
            <a:r>
              <a:rPr lang="en-US" dirty="0"/>
              <a:t>authority: slight pressure</a:t>
            </a:r>
          </a:p>
          <a:p>
            <a:endParaRPr lang="en-US" dirty="0"/>
          </a:p>
          <a:p>
            <a:r>
              <a:rPr lang="en-US" dirty="0" err="1"/>
              <a:t>geck</a:t>
            </a:r>
            <a:r>
              <a:rPr lang="en-US" dirty="0"/>
              <a:t>-o  - </a:t>
            </a:r>
            <a:r>
              <a:rPr lang="en-US" dirty="0" err="1"/>
              <a:t>childs</a:t>
            </a:r>
            <a:r>
              <a:rPr lang="en-US" dirty="0"/>
              <a:t> play</a:t>
            </a:r>
          </a:p>
          <a:p>
            <a:endParaRPr lang="en-US" dirty="0"/>
          </a:p>
          <a:p>
            <a:r>
              <a:rPr lang="en-US" dirty="0"/>
              <a:t>cleanliness: clean</a:t>
            </a:r>
          </a:p>
          <a:p>
            <a:r>
              <a:rPr lang="en-US" dirty="0"/>
              <a:t>fullness: spacious</a:t>
            </a:r>
          </a:p>
          <a:p>
            <a:r>
              <a:rPr lang="en-US" dirty="0"/>
              <a:t>direction: irregular</a:t>
            </a:r>
          </a:p>
          <a:p>
            <a:r>
              <a:rPr lang="en-US" dirty="0"/>
              <a:t>physical drive:  swaying</a:t>
            </a:r>
          </a:p>
          <a:p>
            <a:r>
              <a:rPr lang="en-US" dirty="0"/>
              <a:t>authority: lush</a:t>
            </a:r>
          </a:p>
          <a:p>
            <a:endParaRPr lang="en-US" dirty="0"/>
          </a:p>
          <a:p>
            <a:r>
              <a:rPr lang="en-US" dirty="0"/>
              <a:t>black devel disco club - constantly no respect</a:t>
            </a:r>
          </a:p>
          <a:p>
            <a:endParaRPr lang="en-US" dirty="0"/>
          </a:p>
          <a:p>
            <a:r>
              <a:rPr lang="en-US" dirty="0"/>
              <a:t>cleanliness: integrated</a:t>
            </a:r>
          </a:p>
          <a:p>
            <a:r>
              <a:rPr lang="en-US" dirty="0"/>
              <a:t>fullness: spacious</a:t>
            </a:r>
          </a:p>
          <a:p>
            <a:r>
              <a:rPr lang="en-US" dirty="0"/>
              <a:t>direction: stable</a:t>
            </a:r>
          </a:p>
          <a:p>
            <a:r>
              <a:rPr lang="en-US" dirty="0"/>
              <a:t>physical drive: swaying</a:t>
            </a:r>
          </a:p>
          <a:p>
            <a:r>
              <a:rPr lang="en-US" dirty="0"/>
              <a:t>authority: slight pressure</a:t>
            </a:r>
          </a:p>
          <a:p>
            <a:endParaRPr lang="en-US" dirty="0"/>
          </a:p>
          <a:p>
            <a:r>
              <a:rPr lang="en-US" dirty="0"/>
              <a:t>Gopnik </a:t>
            </a:r>
            <a:r>
              <a:rPr lang="en-US" dirty="0" err="1"/>
              <a:t>McBlyat</a:t>
            </a:r>
            <a:r>
              <a:rPr lang="en-US" dirty="0"/>
              <a:t> - </a:t>
            </a:r>
            <a:r>
              <a:rPr lang="en-US" dirty="0" err="1"/>
              <a:t>cheeki</a:t>
            </a:r>
            <a:r>
              <a:rPr lang="en-US" dirty="0"/>
              <a:t> </a:t>
            </a:r>
            <a:r>
              <a:rPr lang="en-US" dirty="0" err="1"/>
              <a:t>breeki</a:t>
            </a:r>
            <a:r>
              <a:rPr lang="en-US" dirty="0"/>
              <a:t> revolt</a:t>
            </a:r>
          </a:p>
          <a:p>
            <a:endParaRPr lang="en-US" dirty="0"/>
          </a:p>
          <a:p>
            <a:r>
              <a:rPr lang="en-US" dirty="0"/>
              <a:t>cleanliness: integrated</a:t>
            </a:r>
          </a:p>
          <a:p>
            <a:r>
              <a:rPr lang="en-US" dirty="0"/>
              <a:t>fullness: full</a:t>
            </a:r>
          </a:p>
          <a:p>
            <a:r>
              <a:rPr lang="en-US" dirty="0"/>
              <a:t>direction: hill</a:t>
            </a:r>
          </a:p>
          <a:p>
            <a:r>
              <a:rPr lang="en-US" dirty="0"/>
              <a:t>physical drive: strong drive</a:t>
            </a:r>
          </a:p>
          <a:p>
            <a:r>
              <a:rPr lang="en-US" dirty="0"/>
              <a:t>authority: lush</a:t>
            </a:r>
          </a:p>
          <a:p>
            <a:endParaRPr lang="en-US" dirty="0"/>
          </a:p>
          <a:p>
            <a:r>
              <a:rPr lang="en-US" dirty="0"/>
              <a:t>Deep blue - face to face</a:t>
            </a:r>
          </a:p>
          <a:p>
            <a:endParaRPr lang="en-US" dirty="0"/>
          </a:p>
          <a:p>
            <a:r>
              <a:rPr lang="en-US" dirty="0"/>
              <a:t>cleanliness: sludge</a:t>
            </a:r>
          </a:p>
          <a:p>
            <a:r>
              <a:rPr lang="en-US" dirty="0"/>
              <a:t>fullness: spacious</a:t>
            </a:r>
          </a:p>
          <a:p>
            <a:r>
              <a:rPr lang="en-US" dirty="0"/>
              <a:t>direction: stable</a:t>
            </a:r>
          </a:p>
          <a:p>
            <a:r>
              <a:rPr lang="en-US" dirty="0"/>
              <a:t>physical drive: swaying</a:t>
            </a:r>
          </a:p>
          <a:p>
            <a:r>
              <a:rPr lang="en-US" dirty="0"/>
              <a:t>authority: light pressure</a:t>
            </a:r>
          </a:p>
          <a:p>
            <a:endParaRPr lang="en-US" dirty="0"/>
          </a:p>
          <a:p>
            <a:r>
              <a:rPr lang="en-US" dirty="0"/>
              <a:t>F.U.S.E., Richie Hawtin - dimension intrusion</a:t>
            </a:r>
          </a:p>
          <a:p>
            <a:endParaRPr lang="en-US" dirty="0"/>
          </a:p>
          <a:p>
            <a:r>
              <a:rPr lang="en-US" dirty="0"/>
              <a:t>cleanliness: clean</a:t>
            </a:r>
          </a:p>
          <a:p>
            <a:r>
              <a:rPr lang="en-US" dirty="0"/>
              <a:t>fullness: spacious</a:t>
            </a:r>
          </a:p>
          <a:p>
            <a:r>
              <a:rPr lang="en-US" dirty="0"/>
              <a:t>direction: stable</a:t>
            </a:r>
          </a:p>
          <a:p>
            <a:r>
              <a:rPr lang="en-US" dirty="0"/>
              <a:t>physical drive: grooving</a:t>
            </a:r>
          </a:p>
          <a:p>
            <a:r>
              <a:rPr lang="en-US" dirty="0"/>
              <a:t>authority: slight pressure</a:t>
            </a:r>
          </a:p>
          <a:p>
            <a:endParaRPr lang="en-US" dirty="0"/>
          </a:p>
          <a:p>
            <a:r>
              <a:rPr lang="en-US" dirty="0"/>
              <a:t>DJ KRUSH - passage</a:t>
            </a:r>
          </a:p>
          <a:p>
            <a:endParaRPr lang="en-US" dirty="0"/>
          </a:p>
          <a:p>
            <a:r>
              <a:rPr lang="en-US" dirty="0"/>
              <a:t>cleanliness: sludge</a:t>
            </a:r>
          </a:p>
          <a:p>
            <a:r>
              <a:rPr lang="en-US" dirty="0"/>
              <a:t>fullness: spacious</a:t>
            </a:r>
          </a:p>
          <a:p>
            <a:r>
              <a:rPr lang="en-US" dirty="0"/>
              <a:t>direction: stable</a:t>
            </a:r>
          </a:p>
          <a:p>
            <a:r>
              <a:rPr lang="en-US" dirty="0"/>
              <a:t>physical drive: nodding</a:t>
            </a:r>
          </a:p>
          <a:p>
            <a:r>
              <a:rPr lang="en-US" dirty="0"/>
              <a:t>authority: slight pressure</a:t>
            </a:r>
          </a:p>
          <a:p>
            <a:endParaRPr lang="en-US" dirty="0"/>
          </a:p>
          <a:p>
            <a:r>
              <a:rPr lang="en-US" dirty="0"/>
              <a:t>infected mushroom - anyone else but me</a:t>
            </a:r>
          </a:p>
          <a:p>
            <a:endParaRPr lang="en-US" dirty="0"/>
          </a:p>
          <a:p>
            <a:r>
              <a:rPr lang="en-US" dirty="0"/>
              <a:t>cleanliness: integrated</a:t>
            </a:r>
          </a:p>
          <a:p>
            <a:r>
              <a:rPr lang="en-US" dirty="0"/>
              <a:t>fullness: spacious</a:t>
            </a:r>
          </a:p>
          <a:p>
            <a:r>
              <a:rPr lang="en-US" dirty="0"/>
              <a:t>direction: waves and peaks</a:t>
            </a:r>
          </a:p>
          <a:p>
            <a:r>
              <a:rPr lang="en-US" dirty="0"/>
              <a:t>physical drive: losing it</a:t>
            </a:r>
          </a:p>
          <a:p>
            <a:r>
              <a:rPr lang="en-US" dirty="0"/>
              <a:t>authority: commanding</a:t>
            </a:r>
          </a:p>
          <a:p>
            <a:endParaRPr lang="en-US" dirty="0"/>
          </a:p>
          <a:p>
            <a:r>
              <a:rPr lang="en-US" dirty="0"/>
              <a:t>death insurance - </a:t>
            </a:r>
            <a:r>
              <a:rPr lang="en-US" dirty="0" err="1"/>
              <a:t>bugbite</a:t>
            </a:r>
            <a:endParaRPr lang="en-US" dirty="0"/>
          </a:p>
          <a:p>
            <a:endParaRPr lang="en-US" dirty="0"/>
          </a:p>
          <a:p>
            <a:r>
              <a:rPr lang="en-US" dirty="0"/>
              <a:t>cleanliness: integrated</a:t>
            </a:r>
          </a:p>
          <a:p>
            <a:r>
              <a:rPr lang="en-US" dirty="0"/>
              <a:t>fullness: full</a:t>
            </a:r>
          </a:p>
          <a:p>
            <a:r>
              <a:rPr lang="en-US" dirty="0"/>
              <a:t>direction: forward</a:t>
            </a:r>
          </a:p>
          <a:p>
            <a:r>
              <a:rPr lang="en-US" dirty="0"/>
              <a:t>physical drive: grooving</a:t>
            </a:r>
          </a:p>
          <a:p>
            <a:r>
              <a:rPr lang="en-US" dirty="0"/>
              <a:t>authority: commanding</a:t>
            </a:r>
          </a:p>
          <a:p>
            <a:endParaRPr lang="en-US" dirty="0"/>
          </a:p>
          <a:p>
            <a:r>
              <a:rPr lang="en-US" dirty="0" err="1"/>
              <a:t>aaron</a:t>
            </a:r>
            <a:r>
              <a:rPr lang="en-US" dirty="0"/>
              <a:t> </a:t>
            </a:r>
            <a:r>
              <a:rPr lang="en-US" dirty="0" err="1"/>
              <a:t>spectre</a:t>
            </a:r>
            <a:r>
              <a:rPr lang="en-US" dirty="0"/>
              <a:t> - create the future</a:t>
            </a:r>
          </a:p>
          <a:p>
            <a:endParaRPr lang="en-US" dirty="0"/>
          </a:p>
          <a:p>
            <a:r>
              <a:rPr lang="en-US" dirty="0"/>
              <a:t>cleanliness: integrated</a:t>
            </a:r>
          </a:p>
          <a:p>
            <a:r>
              <a:rPr lang="en-US" dirty="0"/>
              <a:t>fullness: full</a:t>
            </a:r>
          </a:p>
          <a:p>
            <a:r>
              <a:rPr lang="en-US" dirty="0"/>
              <a:t>direction: irregular</a:t>
            </a:r>
          </a:p>
          <a:p>
            <a:r>
              <a:rPr lang="en-US" dirty="0"/>
              <a:t>physical drive: nodding</a:t>
            </a:r>
          </a:p>
          <a:p>
            <a:r>
              <a:rPr lang="en-US" dirty="0"/>
              <a:t>authority: light pressure</a:t>
            </a:r>
          </a:p>
          <a:p>
            <a:endParaRPr lang="en-US" dirty="0"/>
          </a:p>
          <a:p>
            <a:r>
              <a:rPr lang="en-US" dirty="0"/>
              <a:t>California sunshine - alala</a:t>
            </a:r>
          </a:p>
          <a:p>
            <a:endParaRPr lang="en-US" dirty="0"/>
          </a:p>
          <a:p>
            <a:r>
              <a:rPr lang="en-US" dirty="0"/>
              <a:t>cleanliness: sludge</a:t>
            </a:r>
          </a:p>
          <a:p>
            <a:r>
              <a:rPr lang="en-US" dirty="0"/>
              <a:t>density: cozy</a:t>
            </a:r>
          </a:p>
          <a:p>
            <a:r>
              <a:rPr lang="en-US" dirty="0"/>
              <a:t>direction: waves and peaks</a:t>
            </a:r>
          </a:p>
          <a:p>
            <a:r>
              <a:rPr lang="en-US" dirty="0"/>
              <a:t>physical drive: losing it</a:t>
            </a:r>
          </a:p>
          <a:p>
            <a:r>
              <a:rPr lang="en-US" dirty="0"/>
              <a:t>authority: commanding</a:t>
            </a:r>
          </a:p>
          <a:p>
            <a:endParaRPr lang="en-US" dirty="0"/>
          </a:p>
          <a:p>
            <a:r>
              <a:rPr lang="en-US" dirty="0"/>
              <a:t>drome - break</a:t>
            </a:r>
          </a:p>
          <a:p>
            <a:endParaRPr lang="en-US" dirty="0"/>
          </a:p>
          <a:p>
            <a:r>
              <a:rPr lang="en-US" dirty="0"/>
              <a:t>cleanliness: integrated</a:t>
            </a:r>
          </a:p>
          <a:p>
            <a:r>
              <a:rPr lang="en-US" dirty="0"/>
              <a:t>fullness: full</a:t>
            </a:r>
          </a:p>
          <a:p>
            <a:r>
              <a:rPr lang="en-US" dirty="0"/>
              <a:t>direction: waves and peaks</a:t>
            </a:r>
          </a:p>
          <a:p>
            <a:r>
              <a:rPr lang="en-US" dirty="0"/>
              <a:t>physical drive: losing it</a:t>
            </a:r>
          </a:p>
          <a:p>
            <a:r>
              <a:rPr lang="en-US" dirty="0"/>
              <a:t>authority: lush</a:t>
            </a:r>
          </a:p>
          <a:p>
            <a:endParaRPr lang="en-US" dirty="0"/>
          </a:p>
          <a:p>
            <a:r>
              <a:rPr lang="en-US" dirty="0" err="1"/>
              <a:t>djrum</a:t>
            </a:r>
            <a:r>
              <a:rPr lang="en-US" dirty="0"/>
              <a:t> - out of dust</a:t>
            </a:r>
          </a:p>
          <a:p>
            <a:endParaRPr lang="en-US" dirty="0"/>
          </a:p>
          <a:p>
            <a:r>
              <a:rPr lang="en-US" dirty="0"/>
              <a:t>cleanliness: integrated</a:t>
            </a:r>
          </a:p>
          <a:p>
            <a:r>
              <a:rPr lang="en-US" dirty="0"/>
              <a:t>fullness: spacious</a:t>
            </a:r>
          </a:p>
          <a:p>
            <a:r>
              <a:rPr lang="en-US" dirty="0"/>
              <a:t>direction: irregular</a:t>
            </a:r>
          </a:p>
          <a:p>
            <a:r>
              <a:rPr lang="en-US" dirty="0"/>
              <a:t>physical drive: swaying</a:t>
            </a:r>
          </a:p>
          <a:p>
            <a:r>
              <a:rPr lang="en-US" dirty="0"/>
              <a:t>authority: commanding</a:t>
            </a:r>
          </a:p>
          <a:p>
            <a:endParaRPr lang="en-US" dirty="0"/>
          </a:p>
          <a:p>
            <a:r>
              <a:rPr lang="en-US" dirty="0"/>
              <a:t>mani </a:t>
            </a:r>
            <a:r>
              <a:rPr lang="en-US" dirty="0" err="1"/>
              <a:t>festo</a:t>
            </a:r>
            <a:r>
              <a:rPr lang="en-US" dirty="0"/>
              <a:t> - barricade</a:t>
            </a:r>
          </a:p>
          <a:p>
            <a:endParaRPr lang="en-US" dirty="0"/>
          </a:p>
          <a:p>
            <a:r>
              <a:rPr lang="en-US" dirty="0"/>
              <a:t>cleanliness: integrated</a:t>
            </a:r>
          </a:p>
          <a:p>
            <a:r>
              <a:rPr lang="en-US" dirty="0"/>
              <a:t>fullness: spacious</a:t>
            </a:r>
          </a:p>
          <a:p>
            <a:r>
              <a:rPr lang="en-US" dirty="0"/>
              <a:t>direction: waves and peaks</a:t>
            </a:r>
          </a:p>
          <a:p>
            <a:r>
              <a:rPr lang="en-US" dirty="0"/>
              <a:t>physical drive: grooving</a:t>
            </a:r>
          </a:p>
          <a:p>
            <a:r>
              <a:rPr lang="en-US" dirty="0"/>
              <a:t>authority: commanding</a:t>
            </a:r>
          </a:p>
          <a:p>
            <a:endParaRPr lang="en-US" dirty="0"/>
          </a:p>
          <a:p>
            <a:r>
              <a:rPr lang="en-US" dirty="0"/>
              <a:t>Proyecto mirage - came to know</a:t>
            </a:r>
          </a:p>
          <a:p>
            <a:endParaRPr lang="en-US" dirty="0"/>
          </a:p>
          <a:p>
            <a:r>
              <a:rPr lang="en-US" dirty="0"/>
              <a:t>cleanliness: sludge</a:t>
            </a:r>
          </a:p>
          <a:p>
            <a:r>
              <a:rPr lang="en-US" dirty="0"/>
              <a:t>fullness: full</a:t>
            </a:r>
          </a:p>
          <a:p>
            <a:r>
              <a:rPr lang="en-US" dirty="0"/>
              <a:t>direction: stable</a:t>
            </a:r>
          </a:p>
          <a:p>
            <a:r>
              <a:rPr lang="en-US" dirty="0"/>
              <a:t>physical drive: nodding</a:t>
            </a:r>
          </a:p>
          <a:p>
            <a:r>
              <a:rPr lang="en-US" dirty="0"/>
              <a:t>authority: commanding</a:t>
            </a:r>
          </a:p>
          <a:p>
            <a:endParaRPr lang="en-US" dirty="0"/>
          </a:p>
          <a:p>
            <a:r>
              <a:rPr lang="en-US" dirty="0" err="1"/>
              <a:t>squarepusher</a:t>
            </a:r>
            <a:r>
              <a:rPr lang="en-US" dirty="0"/>
              <a:t> - beep street</a:t>
            </a:r>
          </a:p>
          <a:p>
            <a:endParaRPr lang="en-US" dirty="0"/>
          </a:p>
          <a:p>
            <a:r>
              <a:rPr lang="en-US" dirty="0"/>
              <a:t>cleanliness: clean</a:t>
            </a:r>
          </a:p>
          <a:p>
            <a:r>
              <a:rPr lang="en-US" dirty="0"/>
              <a:t>density: spacious</a:t>
            </a:r>
          </a:p>
          <a:p>
            <a:r>
              <a:rPr lang="en-US" dirty="0"/>
              <a:t>direction: stable</a:t>
            </a:r>
          </a:p>
          <a:p>
            <a:r>
              <a:rPr lang="en-US" dirty="0"/>
              <a:t>physical drive: swaying</a:t>
            </a:r>
          </a:p>
          <a:p>
            <a:r>
              <a:rPr lang="en-US" dirty="0"/>
              <a:t>authority: slight pressure</a:t>
            </a:r>
            <a:endParaRPr lang="nl-NL" dirty="0"/>
          </a:p>
        </p:txBody>
      </p:sp>
    </p:spTree>
    <p:extLst>
      <p:ext uri="{BB962C8B-B14F-4D97-AF65-F5344CB8AC3E}">
        <p14:creationId xmlns:p14="http://schemas.microsoft.com/office/powerpoint/2010/main" val="14069897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1554</TotalTime>
  <Words>2979</Words>
  <Application>Microsoft Office PowerPoint</Application>
  <PresentationFormat>Widescreen</PresentationFormat>
  <Paragraphs>413</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Aptos Display</vt:lpstr>
      <vt:lpstr>Arial</vt:lpstr>
      <vt:lpstr>Office Theme</vt:lpstr>
      <vt:lpstr>Music organization</vt:lpstr>
      <vt:lpstr>We organize music in 2 ways</vt:lpstr>
      <vt:lpstr>Philosophy</vt:lpstr>
      <vt:lpstr>Tagging guidelines</vt:lpstr>
      <vt:lpstr>Tags</vt:lpstr>
      <vt:lpstr>Tags</vt:lpstr>
      <vt:lpstr>Physical drive</vt:lpstr>
      <vt:lpstr>Direction</vt:lpstr>
      <vt:lpstr>Authority</vt:lpstr>
      <vt:lpstr>Density</vt:lpstr>
      <vt:lpstr>Cleanliness</vt:lpstr>
      <vt:lpstr>Fullness</vt:lpstr>
      <vt:lpstr>Density</vt:lpstr>
      <vt:lpstr>Warning</vt:lpstr>
      <vt:lpstr>Playlists</vt:lpstr>
      <vt:lpstr>To do</vt:lpstr>
      <vt:lpstr>Legacy</vt:lpstr>
      <vt:lpstr>Thoughts on alternative tags</vt:lpstr>
      <vt:lpstr>Questions</vt:lpstr>
      <vt:lpstr>Physical drive: ChatGPT</vt:lpstr>
      <vt:lpstr>Feature requests for One Tagger</vt:lpstr>
      <vt:lpstr>Tracks to test system</vt:lpstr>
      <vt:lpstr>Piers tagging results 23-02-2026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Pier Tabak</dc:creator>
  <cp:lastModifiedBy>Pier Tabak</cp:lastModifiedBy>
  <cp:revision>11</cp:revision>
  <dcterms:created xsi:type="dcterms:W3CDTF">2026-02-16T06:38:17Z</dcterms:created>
  <dcterms:modified xsi:type="dcterms:W3CDTF">2026-02-23T09:05:15Z</dcterms:modified>
</cp:coreProperties>
</file>